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2"/>
  </p:notesMasterIdLst>
  <p:sldIdLst>
    <p:sldId id="256" r:id="rId2"/>
    <p:sldId id="307" r:id="rId3"/>
    <p:sldId id="259" r:id="rId4"/>
    <p:sldId id="266" r:id="rId5"/>
    <p:sldId id="261" r:id="rId6"/>
    <p:sldId id="308" r:id="rId7"/>
    <p:sldId id="262" r:id="rId8"/>
    <p:sldId id="271" r:id="rId9"/>
    <p:sldId id="310" r:id="rId10"/>
    <p:sldId id="265" r:id="rId11"/>
    <p:sldId id="260" r:id="rId12"/>
    <p:sldId id="267" r:id="rId13"/>
    <p:sldId id="311" r:id="rId14"/>
    <p:sldId id="312" r:id="rId15"/>
    <p:sldId id="314" r:id="rId16"/>
    <p:sldId id="313" r:id="rId17"/>
    <p:sldId id="264" r:id="rId18"/>
    <p:sldId id="315" r:id="rId19"/>
    <p:sldId id="269" r:id="rId20"/>
    <p:sldId id="316" r:id="rId21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PT Sans" panose="020B0503020203020204" pitchFamily="34" charset="0"/>
      <p:regular r:id="rId32"/>
      <p:bold r:id="rId33"/>
      <p:italic r:id="rId34"/>
      <p:boldItalic r:id="rId35"/>
    </p:embeddedFont>
    <p:embeddedFont>
      <p:font typeface="Rubik" panose="020B0604020202020204" charset="-79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F5FCD5-A4A0-497C-A82E-1AB7BE2D9750}">
  <a:tblStyle styleId="{D2F5FCD5-A4A0-497C-A82E-1AB7BE2D97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2992AD9-B1D6-4BA7-A59A-5B5BE7ACF24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39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1e375b9f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1e375b9f5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1258269c9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1258269c9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>
          <a:extLst>
            <a:ext uri="{FF2B5EF4-FFF2-40B4-BE49-F238E27FC236}">
              <a16:creationId xmlns:a16="http://schemas.microsoft.com/office/drawing/2014/main" id="{544007C7-EFE0-877C-EE97-157BC3BF8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1258269c9b_0_111:notes">
            <a:extLst>
              <a:ext uri="{FF2B5EF4-FFF2-40B4-BE49-F238E27FC236}">
                <a16:creationId xmlns:a16="http://schemas.microsoft.com/office/drawing/2014/main" id="{06DE0051-496A-6367-F66D-43854BD379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1258269c9b_0_111:notes">
            <a:extLst>
              <a:ext uri="{FF2B5EF4-FFF2-40B4-BE49-F238E27FC236}">
                <a16:creationId xmlns:a16="http://schemas.microsoft.com/office/drawing/2014/main" id="{72CD5A17-1784-9851-2A58-82641D6526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3270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118898af35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118898af35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>
          <a:extLst>
            <a:ext uri="{FF2B5EF4-FFF2-40B4-BE49-F238E27FC236}">
              <a16:creationId xmlns:a16="http://schemas.microsoft.com/office/drawing/2014/main" id="{DE976646-EE2D-F63D-0B7D-DC56F63E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1e375b9f55_0_86:notes">
            <a:extLst>
              <a:ext uri="{FF2B5EF4-FFF2-40B4-BE49-F238E27FC236}">
                <a16:creationId xmlns:a16="http://schemas.microsoft.com/office/drawing/2014/main" id="{BE43E6FB-E8B4-FFB4-57EC-2D17439171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1e375b9f55_0_86:notes">
            <a:extLst>
              <a:ext uri="{FF2B5EF4-FFF2-40B4-BE49-F238E27FC236}">
                <a16:creationId xmlns:a16="http://schemas.microsoft.com/office/drawing/2014/main" id="{9C54229A-3379-A1F3-6E19-80BB5D5FDD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4343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1e375b9f5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1e375b9f5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4459266da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4459266da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0f9e629ec3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0f9e629ec3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1ECC4740-33BD-2EC4-9F52-88C3D836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0f9e629ec3_0_172:notes">
            <a:extLst>
              <a:ext uri="{FF2B5EF4-FFF2-40B4-BE49-F238E27FC236}">
                <a16:creationId xmlns:a16="http://schemas.microsoft.com/office/drawing/2014/main" id="{4CF7C3A2-264D-6335-3BE6-12A3B66562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0f9e629ec3_0_172:notes">
            <a:extLst>
              <a:ext uri="{FF2B5EF4-FFF2-40B4-BE49-F238E27FC236}">
                <a16:creationId xmlns:a16="http://schemas.microsoft.com/office/drawing/2014/main" id="{E825AE7B-0633-524F-80FF-053442CE6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63024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A7920BC4-BF70-FAEF-91DF-CA4D0658D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0f9e629ec3_0_172:notes">
            <a:extLst>
              <a:ext uri="{FF2B5EF4-FFF2-40B4-BE49-F238E27FC236}">
                <a16:creationId xmlns:a16="http://schemas.microsoft.com/office/drawing/2014/main" id="{E2FB11E5-F69D-D367-AE0D-F9AD6AB21F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0f9e629ec3_0_172:notes">
            <a:extLst>
              <a:ext uri="{FF2B5EF4-FFF2-40B4-BE49-F238E27FC236}">
                <a16:creationId xmlns:a16="http://schemas.microsoft.com/office/drawing/2014/main" id="{9877EF75-AF5E-CD3D-545F-68B892C919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92321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0E2E59BE-BA58-778C-1F81-A56346295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0f9e629ec3_0_172:notes">
            <a:extLst>
              <a:ext uri="{FF2B5EF4-FFF2-40B4-BE49-F238E27FC236}">
                <a16:creationId xmlns:a16="http://schemas.microsoft.com/office/drawing/2014/main" id="{F92CB1D6-13EF-2534-7B42-66A806A7E3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0f9e629ec3_0_172:notes">
            <a:extLst>
              <a:ext uri="{FF2B5EF4-FFF2-40B4-BE49-F238E27FC236}">
                <a16:creationId xmlns:a16="http://schemas.microsoft.com/office/drawing/2014/main" id="{64E957A4-9377-A353-CE77-D90BDF334E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71753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>
          <a:extLst>
            <a:ext uri="{FF2B5EF4-FFF2-40B4-BE49-F238E27FC236}">
              <a16:creationId xmlns:a16="http://schemas.microsoft.com/office/drawing/2014/main" id="{CD9F9AB7-57FD-5CAC-F2A1-4976889EC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0f9e629ec3_0_172:notes">
            <a:extLst>
              <a:ext uri="{FF2B5EF4-FFF2-40B4-BE49-F238E27FC236}">
                <a16:creationId xmlns:a16="http://schemas.microsoft.com/office/drawing/2014/main" id="{E3475548-E28D-DA14-86EB-4B9954A17B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0f9e629ec3_0_172:notes">
            <a:extLst>
              <a:ext uri="{FF2B5EF4-FFF2-40B4-BE49-F238E27FC236}">
                <a16:creationId xmlns:a16="http://schemas.microsoft.com/office/drawing/2014/main" id="{7224D7CB-0C86-5292-54F7-39165A5B2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71901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1258269c9b_0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21258269c9b_0_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>
          <a:extLst>
            <a:ext uri="{FF2B5EF4-FFF2-40B4-BE49-F238E27FC236}">
              <a16:creationId xmlns:a16="http://schemas.microsoft.com/office/drawing/2014/main" id="{0364617A-32A4-C50F-30A9-E2C04FB0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1e375b9f55_0_86:notes">
            <a:extLst>
              <a:ext uri="{FF2B5EF4-FFF2-40B4-BE49-F238E27FC236}">
                <a16:creationId xmlns:a16="http://schemas.microsoft.com/office/drawing/2014/main" id="{87C025B7-E9BC-EB5B-BE2F-67BE47B688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1e375b9f55_0_86:notes">
            <a:extLst>
              <a:ext uri="{FF2B5EF4-FFF2-40B4-BE49-F238E27FC236}">
                <a16:creationId xmlns:a16="http://schemas.microsoft.com/office/drawing/2014/main" id="{036134A9-D4C5-4B0C-B39F-D62B99FFA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9242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105afc42a3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105afc42a3_1_5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>
          <a:extLst>
            <a:ext uri="{FF2B5EF4-FFF2-40B4-BE49-F238E27FC236}">
              <a16:creationId xmlns:a16="http://schemas.microsoft.com/office/drawing/2014/main" id="{29F7D1D0-8A45-B30E-ECC8-A6D263CFB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105afc42a3_1_525:notes">
            <a:extLst>
              <a:ext uri="{FF2B5EF4-FFF2-40B4-BE49-F238E27FC236}">
                <a16:creationId xmlns:a16="http://schemas.microsoft.com/office/drawing/2014/main" id="{7F428951-E03E-4BF9-9B3B-8E54A2353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105afc42a3_1_525:notes">
            <a:extLst>
              <a:ext uri="{FF2B5EF4-FFF2-40B4-BE49-F238E27FC236}">
                <a16:creationId xmlns:a16="http://schemas.microsoft.com/office/drawing/2014/main" id="{4B570A50-6AD6-48BD-2C4D-4A27746D8B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9445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3534500" y="104777"/>
            <a:ext cx="9309101" cy="788094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95625" y="904275"/>
            <a:ext cx="4660500" cy="255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95625" y="3689450"/>
            <a:ext cx="46605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3463487" y="-123425"/>
            <a:ext cx="7073983" cy="1420051"/>
            <a:chOff x="3463488" y="-123425"/>
            <a:chExt cx="7073983" cy="1420051"/>
          </a:xfrm>
        </p:grpSpPr>
        <p:pic>
          <p:nvPicPr>
            <p:cNvPr id="13" name="Google Shape;13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76863" y="-123425"/>
              <a:ext cx="6724326" cy="1420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63487" y="-6825"/>
              <a:ext cx="7073983" cy="974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oogle Shape;15;p2"/>
          <p:cNvGrpSpPr/>
          <p:nvPr/>
        </p:nvGrpSpPr>
        <p:grpSpPr>
          <a:xfrm>
            <a:off x="-550850" y="4185098"/>
            <a:ext cx="10207724" cy="2155679"/>
            <a:chOff x="-550850" y="4185098"/>
            <a:chExt cx="10207724" cy="2155679"/>
          </a:xfrm>
        </p:grpSpPr>
        <p:pic>
          <p:nvPicPr>
            <p:cNvPr id="16" name="Google Shape;16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550850" y="4185098"/>
              <a:ext cx="10207724" cy="2155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398450" y="4600763"/>
              <a:ext cx="2504500" cy="9305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132875" y="4520757"/>
              <a:ext cx="4211476" cy="7974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3774350" y="2"/>
            <a:ext cx="9309101" cy="788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1219925" y="2776563"/>
            <a:ext cx="40419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1219925" y="1745638"/>
            <a:ext cx="1117500" cy="841800"/>
          </a:xfrm>
          <a:prstGeom prst="rect">
            <a:avLst/>
          </a:prstGeom>
          <a:solidFill>
            <a:srgbClr val="C0C9D3">
              <a:alpha val="3608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3" name="Google Shape;23;p3"/>
          <p:cNvGrpSpPr/>
          <p:nvPr/>
        </p:nvGrpSpPr>
        <p:grpSpPr>
          <a:xfrm>
            <a:off x="-532302" y="-427039"/>
            <a:ext cx="5565855" cy="1235822"/>
            <a:chOff x="4433100" y="-472987"/>
            <a:chExt cx="5399025" cy="1198779"/>
          </a:xfrm>
        </p:grpSpPr>
        <p:pic>
          <p:nvPicPr>
            <p:cNvPr id="24" name="Google Shape;24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33100" y="-355975"/>
              <a:ext cx="5163624" cy="8694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61525" y="-472987"/>
              <a:ext cx="4870600" cy="11987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" name="Google Shape;26;p3"/>
          <p:cNvGrpSpPr/>
          <p:nvPr/>
        </p:nvGrpSpPr>
        <p:grpSpPr>
          <a:xfrm>
            <a:off x="6581263" y="-420462"/>
            <a:ext cx="4549638" cy="931450"/>
            <a:chOff x="6581263" y="-420462"/>
            <a:chExt cx="4549638" cy="931450"/>
          </a:xfrm>
        </p:grpSpPr>
        <p:pic>
          <p:nvPicPr>
            <p:cNvPr id="27" name="Google Shape;27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6581263" y="-420462"/>
              <a:ext cx="4097401" cy="931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108601" y="-401751"/>
              <a:ext cx="4022299" cy="761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" name="Google Shape;29;p3"/>
          <p:cNvGrpSpPr/>
          <p:nvPr/>
        </p:nvGrpSpPr>
        <p:grpSpPr>
          <a:xfrm>
            <a:off x="-182575" y="4175041"/>
            <a:ext cx="10100130" cy="1495647"/>
            <a:chOff x="-382600" y="4598975"/>
            <a:chExt cx="10302050" cy="1110684"/>
          </a:xfrm>
        </p:grpSpPr>
        <p:pic>
          <p:nvPicPr>
            <p:cNvPr id="30" name="Google Shape;30;p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-382600" y="4598975"/>
              <a:ext cx="10100426" cy="1110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819775" y="4686951"/>
              <a:ext cx="4099675" cy="8021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137250" y="4914899"/>
              <a:ext cx="4211474" cy="5875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5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-82550" y="-5229223"/>
            <a:ext cx="9309101" cy="7880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" name="Google Shape;45;p5"/>
          <p:cNvGrpSpPr/>
          <p:nvPr/>
        </p:nvGrpSpPr>
        <p:grpSpPr>
          <a:xfrm>
            <a:off x="4349312" y="-152000"/>
            <a:ext cx="7073983" cy="1420051"/>
            <a:chOff x="3463488" y="-123425"/>
            <a:chExt cx="7073983" cy="1420051"/>
          </a:xfrm>
        </p:grpSpPr>
        <p:pic>
          <p:nvPicPr>
            <p:cNvPr id="46" name="Google Shape;46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76863" y="-123425"/>
              <a:ext cx="6724326" cy="1420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" name="Google Shape;47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63487" y="-6825"/>
              <a:ext cx="7073983" cy="974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" name="Google Shape;48;p5"/>
          <p:cNvGrpSpPr/>
          <p:nvPr/>
        </p:nvGrpSpPr>
        <p:grpSpPr>
          <a:xfrm flipH="1">
            <a:off x="-550850" y="4413698"/>
            <a:ext cx="10207724" cy="2155679"/>
            <a:chOff x="-550850" y="4185098"/>
            <a:chExt cx="10207724" cy="2155679"/>
          </a:xfrm>
        </p:grpSpPr>
        <p:pic>
          <p:nvPicPr>
            <p:cNvPr id="49" name="Google Shape;49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550850" y="4185098"/>
              <a:ext cx="10207724" cy="2155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398450" y="4600763"/>
              <a:ext cx="2504500" cy="9305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132875" y="4520757"/>
              <a:ext cx="4211476" cy="79746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4923125" y="2726551"/>
            <a:ext cx="2735100" cy="14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2"/>
          </p:nvPr>
        </p:nvSpPr>
        <p:spPr>
          <a:xfrm>
            <a:off x="1485775" y="2726552"/>
            <a:ext cx="2735100" cy="14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3"/>
          </p:nvPr>
        </p:nvSpPr>
        <p:spPr>
          <a:xfrm>
            <a:off x="1485775" y="2229100"/>
            <a:ext cx="2735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4"/>
          </p:nvPr>
        </p:nvSpPr>
        <p:spPr>
          <a:xfrm>
            <a:off x="4923125" y="2229100"/>
            <a:ext cx="2735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6277050" y="581027"/>
            <a:ext cx="9309101" cy="7880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1863775" y="4371409"/>
            <a:ext cx="8400200" cy="1414464"/>
            <a:chOff x="1254175" y="2923609"/>
            <a:chExt cx="8400200" cy="1414464"/>
          </a:xfrm>
        </p:grpSpPr>
        <p:pic>
          <p:nvPicPr>
            <p:cNvPr id="69" name="Google Shape;69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63725" y="2997790"/>
              <a:ext cx="7513876" cy="1277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54175" y="2923609"/>
              <a:ext cx="8400200" cy="14144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3996600" y="902013"/>
            <a:ext cx="4423500" cy="10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body" idx="1"/>
          </p:nvPr>
        </p:nvSpPr>
        <p:spPr>
          <a:xfrm>
            <a:off x="3996600" y="2092300"/>
            <a:ext cx="4423500" cy="214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 flipH="1">
            <a:off x="266675" y="318750"/>
            <a:ext cx="3346800" cy="4506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74" name="Google Shape;74;p7"/>
          <p:cNvGrpSpPr/>
          <p:nvPr/>
        </p:nvGrpSpPr>
        <p:grpSpPr>
          <a:xfrm>
            <a:off x="1314619" y="-358900"/>
            <a:ext cx="8426690" cy="1577975"/>
            <a:chOff x="1314619" y="-508000"/>
            <a:chExt cx="8426690" cy="1577975"/>
          </a:xfrm>
        </p:grpSpPr>
        <p:sp>
          <p:nvSpPr>
            <p:cNvPr id="75" name="Google Shape;75;p7"/>
            <p:cNvSpPr/>
            <p:nvPr/>
          </p:nvSpPr>
          <p:spPr>
            <a:xfrm flipH="1">
              <a:off x="1314619" y="-175975"/>
              <a:ext cx="8086556" cy="974919"/>
            </a:xfrm>
            <a:custGeom>
              <a:avLst/>
              <a:gdLst/>
              <a:ahLst/>
              <a:cxnLst/>
              <a:rect l="l" t="t" r="r" b="b"/>
              <a:pathLst>
                <a:path w="138214" h="18640" extrusionOk="0">
                  <a:moveTo>
                    <a:pt x="1" y="16304"/>
                  </a:moveTo>
                  <a:cubicBezTo>
                    <a:pt x="5191" y="18640"/>
                    <a:pt x="11326" y="17673"/>
                    <a:pt x="16575" y="15455"/>
                  </a:cubicBezTo>
                  <a:cubicBezTo>
                    <a:pt x="21825" y="13260"/>
                    <a:pt x="26508" y="9910"/>
                    <a:pt x="31617" y="7397"/>
                  </a:cubicBezTo>
                  <a:cubicBezTo>
                    <a:pt x="43307" y="1581"/>
                    <a:pt x="57133" y="213"/>
                    <a:pt x="69744" y="3587"/>
                  </a:cubicBezTo>
                  <a:cubicBezTo>
                    <a:pt x="79595" y="6241"/>
                    <a:pt x="88631" y="11656"/>
                    <a:pt x="98659" y="13532"/>
                  </a:cubicBezTo>
                  <a:cubicBezTo>
                    <a:pt x="112980" y="16210"/>
                    <a:pt x="128540" y="10889"/>
                    <a:pt x="138214" y="1"/>
                  </a:cubicBez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C0C9D3">
                    <a:alpha val="50588"/>
                  </a:srgbClr>
                </a:gs>
                <a:gs pos="100000">
                  <a:srgbClr val="F8FAFB">
                    <a:alpha val="5294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1735534" y="-508000"/>
              <a:ext cx="8005775" cy="1577975"/>
            </a:xfrm>
            <a:custGeom>
              <a:avLst/>
              <a:gdLst/>
              <a:ahLst/>
              <a:cxnLst/>
              <a:rect l="l" t="t" r="r" b="b"/>
              <a:pathLst>
                <a:path w="320231" h="63119" extrusionOk="0">
                  <a:moveTo>
                    <a:pt x="1064" y="12065"/>
                  </a:moveTo>
                  <a:cubicBezTo>
                    <a:pt x="3541" y="15113"/>
                    <a:pt x="13256" y="21717"/>
                    <a:pt x="18590" y="24638"/>
                  </a:cubicBezTo>
                  <a:cubicBezTo>
                    <a:pt x="23924" y="27559"/>
                    <a:pt x="28242" y="28258"/>
                    <a:pt x="33068" y="29591"/>
                  </a:cubicBezTo>
                  <a:cubicBezTo>
                    <a:pt x="37894" y="30925"/>
                    <a:pt x="41831" y="32195"/>
                    <a:pt x="47546" y="32639"/>
                  </a:cubicBezTo>
                  <a:cubicBezTo>
                    <a:pt x="53261" y="33084"/>
                    <a:pt x="58532" y="34036"/>
                    <a:pt x="67358" y="32258"/>
                  </a:cubicBezTo>
                  <a:cubicBezTo>
                    <a:pt x="76185" y="30480"/>
                    <a:pt x="88758" y="25083"/>
                    <a:pt x="100505" y="21971"/>
                  </a:cubicBezTo>
                  <a:cubicBezTo>
                    <a:pt x="112253" y="18860"/>
                    <a:pt x="126985" y="14859"/>
                    <a:pt x="137843" y="13589"/>
                  </a:cubicBezTo>
                  <a:cubicBezTo>
                    <a:pt x="148702" y="12319"/>
                    <a:pt x="155560" y="13145"/>
                    <a:pt x="165656" y="14351"/>
                  </a:cubicBezTo>
                  <a:cubicBezTo>
                    <a:pt x="175753" y="15558"/>
                    <a:pt x="187246" y="17272"/>
                    <a:pt x="198422" y="20828"/>
                  </a:cubicBezTo>
                  <a:cubicBezTo>
                    <a:pt x="209598" y="24384"/>
                    <a:pt x="223441" y="31242"/>
                    <a:pt x="232712" y="35687"/>
                  </a:cubicBezTo>
                  <a:cubicBezTo>
                    <a:pt x="241983" y="40132"/>
                    <a:pt x="246936" y="43561"/>
                    <a:pt x="254048" y="47498"/>
                  </a:cubicBezTo>
                  <a:cubicBezTo>
                    <a:pt x="261160" y="51435"/>
                    <a:pt x="269542" y="56769"/>
                    <a:pt x="275384" y="59309"/>
                  </a:cubicBezTo>
                  <a:cubicBezTo>
                    <a:pt x="281226" y="61849"/>
                    <a:pt x="284782" y="62167"/>
                    <a:pt x="289100" y="62738"/>
                  </a:cubicBezTo>
                  <a:cubicBezTo>
                    <a:pt x="293418" y="63310"/>
                    <a:pt x="297228" y="63119"/>
                    <a:pt x="301292" y="62738"/>
                  </a:cubicBezTo>
                  <a:cubicBezTo>
                    <a:pt x="305356" y="62357"/>
                    <a:pt x="310817" y="61468"/>
                    <a:pt x="313484" y="60452"/>
                  </a:cubicBezTo>
                  <a:cubicBezTo>
                    <a:pt x="316151" y="59436"/>
                    <a:pt x="316215" y="58801"/>
                    <a:pt x="317294" y="56642"/>
                  </a:cubicBezTo>
                  <a:cubicBezTo>
                    <a:pt x="318374" y="54483"/>
                    <a:pt x="319517" y="53975"/>
                    <a:pt x="319961" y="47498"/>
                  </a:cubicBezTo>
                  <a:cubicBezTo>
                    <a:pt x="320406" y="41021"/>
                    <a:pt x="320025" y="25083"/>
                    <a:pt x="319961" y="17780"/>
                  </a:cubicBezTo>
                  <a:cubicBezTo>
                    <a:pt x="319898" y="10478"/>
                    <a:pt x="320787" y="6350"/>
                    <a:pt x="319580" y="3683"/>
                  </a:cubicBezTo>
                  <a:cubicBezTo>
                    <a:pt x="318374" y="1016"/>
                    <a:pt x="317993" y="2286"/>
                    <a:pt x="312722" y="1778"/>
                  </a:cubicBezTo>
                  <a:cubicBezTo>
                    <a:pt x="307452" y="1270"/>
                    <a:pt x="314119" y="889"/>
                    <a:pt x="287957" y="635"/>
                  </a:cubicBezTo>
                  <a:cubicBezTo>
                    <a:pt x="261795" y="381"/>
                    <a:pt x="193977" y="0"/>
                    <a:pt x="155750" y="254"/>
                  </a:cubicBezTo>
                  <a:cubicBezTo>
                    <a:pt x="117523" y="508"/>
                    <a:pt x="81773" y="1524"/>
                    <a:pt x="58595" y="2159"/>
                  </a:cubicBezTo>
                  <a:cubicBezTo>
                    <a:pt x="35418" y="2794"/>
                    <a:pt x="25829" y="3366"/>
                    <a:pt x="16685" y="4064"/>
                  </a:cubicBezTo>
                  <a:cubicBezTo>
                    <a:pt x="7541" y="4763"/>
                    <a:pt x="6335" y="5017"/>
                    <a:pt x="3731" y="6350"/>
                  </a:cubicBezTo>
                  <a:cubicBezTo>
                    <a:pt x="1128" y="7684"/>
                    <a:pt x="-1412" y="9017"/>
                    <a:pt x="1064" y="12065"/>
                  </a:cubicBezTo>
                  <a:close/>
                </a:path>
              </a:pathLst>
            </a:custGeom>
            <a:gradFill>
              <a:gsLst>
                <a:gs pos="0">
                  <a:srgbClr val="C0C9D3">
                    <a:alpha val="50588"/>
                  </a:srgbClr>
                </a:gs>
                <a:gs pos="100000">
                  <a:srgbClr val="F8FAFB">
                    <a:alpha val="52941"/>
                  </a:srgbClr>
                </a:gs>
              </a:gsLst>
              <a:lin ang="5400012" scaled="0"/>
            </a:gradFill>
            <a:ln>
              <a:noFill/>
            </a:ln>
          </p:spPr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6598100" y="58390"/>
            <a:ext cx="9309101" cy="788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8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-6317800" y="-2913410"/>
            <a:ext cx="9309101" cy="78809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 txBox="1">
            <a:spLocks noGrp="1"/>
          </p:cNvSpPr>
          <p:nvPr>
            <p:ph type="title"/>
          </p:nvPr>
        </p:nvSpPr>
        <p:spPr>
          <a:xfrm>
            <a:off x="2162175" y="1307100"/>
            <a:ext cx="4819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81" name="Google Shape;81;p8"/>
          <p:cNvGrpSpPr/>
          <p:nvPr/>
        </p:nvGrpSpPr>
        <p:grpSpPr>
          <a:xfrm flipH="1">
            <a:off x="-20650" y="4234675"/>
            <a:ext cx="10031426" cy="1246975"/>
            <a:chOff x="-863600" y="4463275"/>
            <a:chExt cx="10031426" cy="1246975"/>
          </a:xfrm>
        </p:grpSpPr>
        <p:pic>
          <p:nvPicPr>
            <p:cNvPr id="82" name="Google Shape;82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-863600" y="4500575"/>
              <a:ext cx="10007601" cy="101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9049" y="4463275"/>
              <a:ext cx="9186875" cy="1246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4" name="Google Shape;84;p8"/>
          <p:cNvGrpSpPr/>
          <p:nvPr/>
        </p:nvGrpSpPr>
        <p:grpSpPr>
          <a:xfrm rot="10800000">
            <a:off x="-718000" y="-530309"/>
            <a:ext cx="10100130" cy="1495647"/>
            <a:chOff x="-382600" y="4598975"/>
            <a:chExt cx="10302050" cy="1110684"/>
          </a:xfrm>
        </p:grpSpPr>
        <p:pic>
          <p:nvPicPr>
            <p:cNvPr id="85" name="Google Shape;85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382600" y="4598975"/>
              <a:ext cx="10100426" cy="1110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819775" y="4686951"/>
              <a:ext cx="4099675" cy="8021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-137250" y="4914899"/>
              <a:ext cx="4211474" cy="5875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9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-82550" y="2211040"/>
            <a:ext cx="9309101" cy="788094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1954225" y="1561012"/>
            <a:ext cx="5235600" cy="150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ubTitle" idx="1"/>
          </p:nvPr>
        </p:nvSpPr>
        <p:spPr>
          <a:xfrm>
            <a:off x="1954300" y="3062288"/>
            <a:ext cx="52356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2" name="Google Shape;92;p9"/>
          <p:cNvGrpSpPr/>
          <p:nvPr/>
        </p:nvGrpSpPr>
        <p:grpSpPr>
          <a:xfrm rot="10800000">
            <a:off x="4533890" y="4195875"/>
            <a:ext cx="6556459" cy="1910339"/>
            <a:chOff x="4433096" y="-874331"/>
            <a:chExt cx="6359937" cy="1387824"/>
          </a:xfrm>
        </p:grpSpPr>
        <p:pic>
          <p:nvPicPr>
            <p:cNvPr id="93" name="Google Shape;93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433096" y="-355977"/>
              <a:ext cx="4368804" cy="8694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22433" y="-874331"/>
              <a:ext cx="4870600" cy="119877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9"/>
          <p:cNvGrpSpPr/>
          <p:nvPr/>
        </p:nvGrpSpPr>
        <p:grpSpPr>
          <a:xfrm rot="10800000" flipH="1">
            <a:off x="-1624482" y="-1556287"/>
            <a:ext cx="7163458" cy="2785769"/>
            <a:chOff x="8018526" y="4192453"/>
            <a:chExt cx="4956724" cy="1927601"/>
          </a:xfrm>
        </p:grpSpPr>
        <p:pic>
          <p:nvPicPr>
            <p:cNvPr id="96" name="Google Shape;96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498840" y="4411229"/>
              <a:ext cx="3221051" cy="1708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8018526" y="4192453"/>
              <a:ext cx="4956724" cy="1408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" name="Google Shape;101;p10"/>
          <p:cNvGrpSpPr/>
          <p:nvPr/>
        </p:nvGrpSpPr>
        <p:grpSpPr>
          <a:xfrm rot="10800000" flipH="1">
            <a:off x="7589900" y="-1144013"/>
            <a:ext cx="5109126" cy="1710933"/>
            <a:chOff x="7866125" y="4042145"/>
            <a:chExt cx="5109126" cy="1710933"/>
          </a:xfrm>
        </p:grpSpPr>
        <p:pic>
          <p:nvPicPr>
            <p:cNvPr id="102" name="Google Shape;102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866125" y="4042145"/>
              <a:ext cx="3221051" cy="1708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8018526" y="4344853"/>
              <a:ext cx="4956724" cy="1408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" name="Google Shape;104;p10"/>
          <p:cNvGrpSpPr/>
          <p:nvPr/>
        </p:nvGrpSpPr>
        <p:grpSpPr>
          <a:xfrm flipH="1">
            <a:off x="-407975" y="4609500"/>
            <a:ext cx="6800850" cy="711750"/>
            <a:chOff x="2935300" y="4514250"/>
            <a:chExt cx="6800850" cy="711750"/>
          </a:xfrm>
        </p:grpSpPr>
        <p:pic>
          <p:nvPicPr>
            <p:cNvPr id="105" name="Google Shape;105;p1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3486150" y="4514250"/>
              <a:ext cx="6250000" cy="663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2935300" y="4782050"/>
              <a:ext cx="6515101" cy="443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" name="Google Shape;107;p10"/>
          <p:cNvGrpSpPr/>
          <p:nvPr/>
        </p:nvGrpSpPr>
        <p:grpSpPr>
          <a:xfrm>
            <a:off x="-746275" y="-629850"/>
            <a:ext cx="4743450" cy="1196775"/>
            <a:chOff x="720575" y="-477450"/>
            <a:chExt cx="4743450" cy="1196775"/>
          </a:xfrm>
        </p:grpSpPr>
        <p:pic>
          <p:nvPicPr>
            <p:cNvPr id="108" name="Google Shape;108;p1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 flipH="1">
              <a:off x="720575" y="-477450"/>
              <a:ext cx="4743450" cy="1196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1390650" y="-356200"/>
              <a:ext cx="3791924" cy="9595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1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200762" y="-4894373"/>
            <a:ext cx="9309101" cy="7880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1"/>
          <p:cNvGrpSpPr/>
          <p:nvPr/>
        </p:nvGrpSpPr>
        <p:grpSpPr>
          <a:xfrm>
            <a:off x="2625574" y="-1955516"/>
            <a:ext cx="7076553" cy="3047728"/>
            <a:chOff x="2625574" y="-1955516"/>
            <a:chExt cx="7076553" cy="3047728"/>
          </a:xfrm>
        </p:grpSpPr>
        <p:pic>
          <p:nvPicPr>
            <p:cNvPr id="113" name="Google Shape;113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406936">
              <a:off x="2734640" y="-1569360"/>
              <a:ext cx="6672525" cy="2242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406936">
              <a:off x="3519340" y="-995571"/>
              <a:ext cx="6101774" cy="17335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11"/>
          <p:cNvGrpSpPr/>
          <p:nvPr/>
        </p:nvGrpSpPr>
        <p:grpSpPr>
          <a:xfrm>
            <a:off x="-2213825" y="-917575"/>
            <a:ext cx="6854099" cy="1900625"/>
            <a:chOff x="-2213825" y="-917575"/>
            <a:chExt cx="6854099" cy="1900625"/>
          </a:xfrm>
        </p:grpSpPr>
        <p:pic>
          <p:nvPicPr>
            <p:cNvPr id="116" name="Google Shape;116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-1876376" y="-917575"/>
              <a:ext cx="6516650" cy="1900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1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 flipH="1">
              <a:off x="-2213825" y="-487900"/>
              <a:ext cx="5111024" cy="12848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" name="Google Shape;118;p11"/>
          <p:cNvGrpSpPr/>
          <p:nvPr/>
        </p:nvGrpSpPr>
        <p:grpSpPr>
          <a:xfrm>
            <a:off x="2156231" y="4411064"/>
            <a:ext cx="11753650" cy="2689334"/>
            <a:chOff x="2156231" y="4363439"/>
            <a:chExt cx="11753650" cy="2689334"/>
          </a:xfrm>
        </p:grpSpPr>
        <p:pic>
          <p:nvPicPr>
            <p:cNvPr id="119" name="Google Shape;119;p1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417043">
              <a:off x="2191037" y="5065694"/>
              <a:ext cx="11684037" cy="128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rot="417043" flipH="1">
              <a:off x="3842604" y="5233345"/>
              <a:ext cx="7591423" cy="861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1" name="Google Shape;121;p11"/>
          <p:cNvSpPr txBox="1">
            <a:spLocks noGrp="1"/>
          </p:cNvSpPr>
          <p:nvPr>
            <p:ph type="title" hasCustomPrompt="1"/>
          </p:nvPr>
        </p:nvSpPr>
        <p:spPr>
          <a:xfrm>
            <a:off x="1493250" y="2970325"/>
            <a:ext cx="6157500" cy="1014900"/>
          </a:xfrm>
          <a:prstGeom prst="rect">
            <a:avLst/>
          </a:prstGeom>
          <a:solidFill>
            <a:srgbClr val="C0C9D3">
              <a:alpha val="3608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2" name="Google Shape;122;p11"/>
          <p:cNvSpPr txBox="1">
            <a:spLocks noGrp="1"/>
          </p:cNvSpPr>
          <p:nvPr>
            <p:ph type="subTitle" idx="1"/>
          </p:nvPr>
        </p:nvSpPr>
        <p:spPr>
          <a:xfrm>
            <a:off x="1493250" y="4059800"/>
            <a:ext cx="6157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4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-6197213" y="-4543448"/>
            <a:ext cx="9309101" cy="788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4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5931437" y="-3209098"/>
            <a:ext cx="9309101" cy="7880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4"/>
          <p:cNvGrpSpPr/>
          <p:nvPr/>
        </p:nvGrpSpPr>
        <p:grpSpPr>
          <a:xfrm>
            <a:off x="-342900" y="4544247"/>
            <a:ext cx="9336100" cy="1818725"/>
            <a:chOff x="-342900" y="4544247"/>
            <a:chExt cx="9336100" cy="1818725"/>
          </a:xfrm>
        </p:grpSpPr>
        <p:pic>
          <p:nvPicPr>
            <p:cNvPr id="151" name="Google Shape;151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1000" y="4544247"/>
              <a:ext cx="8612199" cy="18187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72150" y="4832123"/>
              <a:ext cx="3221050" cy="630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342900" y="4898979"/>
              <a:ext cx="3221049" cy="11967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14"/>
          <p:cNvGrpSpPr/>
          <p:nvPr/>
        </p:nvGrpSpPr>
        <p:grpSpPr>
          <a:xfrm>
            <a:off x="6392875" y="-1082775"/>
            <a:ext cx="5934074" cy="1772602"/>
            <a:chOff x="6392875" y="-1082775"/>
            <a:chExt cx="5934074" cy="1772602"/>
          </a:xfrm>
        </p:grpSpPr>
        <p:pic>
          <p:nvPicPr>
            <p:cNvPr id="155" name="Google Shape;155;p1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 flipH="1">
              <a:off x="6392875" y="-1082775"/>
              <a:ext cx="5934074" cy="162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6629400" y="-506943"/>
              <a:ext cx="3221049" cy="119677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7" name="Google Shape;157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6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-6233913" y="-912923"/>
            <a:ext cx="9309101" cy="788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6462912" y="-2301373"/>
            <a:ext cx="9309101" cy="7880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16"/>
          <p:cNvGrpSpPr/>
          <p:nvPr/>
        </p:nvGrpSpPr>
        <p:grpSpPr>
          <a:xfrm>
            <a:off x="2419350" y="-527950"/>
            <a:ext cx="4689474" cy="1196775"/>
            <a:chOff x="2419350" y="-527950"/>
            <a:chExt cx="4689474" cy="1196775"/>
          </a:xfrm>
        </p:grpSpPr>
        <p:pic>
          <p:nvPicPr>
            <p:cNvPr id="173" name="Google Shape;173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2438400" y="-527950"/>
              <a:ext cx="4670424" cy="1196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19350" y="-436072"/>
              <a:ext cx="4268026" cy="1050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5" name="Google Shape;175;p16"/>
          <p:cNvGrpSpPr/>
          <p:nvPr/>
        </p:nvGrpSpPr>
        <p:grpSpPr>
          <a:xfrm>
            <a:off x="-863600" y="4463275"/>
            <a:ext cx="10007601" cy="1246975"/>
            <a:chOff x="-863600" y="4463275"/>
            <a:chExt cx="10007601" cy="1246975"/>
          </a:xfrm>
        </p:grpSpPr>
        <p:pic>
          <p:nvPicPr>
            <p:cNvPr id="176" name="Google Shape;176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 flipH="1">
              <a:off x="-863600" y="4500575"/>
              <a:ext cx="10007601" cy="101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61900" y="4463275"/>
              <a:ext cx="9205900" cy="12469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16"/>
          <p:cNvSpPr txBox="1">
            <a:spLocks noGrp="1"/>
          </p:cNvSpPr>
          <p:nvPr>
            <p:ph type="title" hasCustomPrompt="1"/>
          </p:nvPr>
        </p:nvSpPr>
        <p:spPr>
          <a:xfrm>
            <a:off x="1487431" y="1249150"/>
            <a:ext cx="2952600" cy="736200"/>
          </a:xfrm>
          <a:prstGeom prst="rect">
            <a:avLst/>
          </a:prstGeom>
          <a:solidFill>
            <a:srgbClr val="C0C9D3">
              <a:alpha val="3608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9" name="Google Shape;179;p16"/>
          <p:cNvSpPr txBox="1">
            <a:spLocks noGrp="1"/>
          </p:cNvSpPr>
          <p:nvPr>
            <p:ph type="subTitle" idx="1"/>
          </p:nvPr>
        </p:nvSpPr>
        <p:spPr>
          <a:xfrm>
            <a:off x="1487443" y="2041950"/>
            <a:ext cx="2952600" cy="3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title" idx="2" hasCustomPrompt="1"/>
          </p:nvPr>
        </p:nvSpPr>
        <p:spPr>
          <a:xfrm>
            <a:off x="1487550" y="2738350"/>
            <a:ext cx="6168900" cy="736200"/>
          </a:xfrm>
          <a:prstGeom prst="rect">
            <a:avLst/>
          </a:prstGeom>
          <a:solidFill>
            <a:srgbClr val="C0C9D3">
              <a:alpha val="3608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1" name="Google Shape;181;p16"/>
          <p:cNvSpPr txBox="1">
            <a:spLocks noGrp="1"/>
          </p:cNvSpPr>
          <p:nvPr>
            <p:ph type="subTitle" idx="3"/>
          </p:nvPr>
        </p:nvSpPr>
        <p:spPr>
          <a:xfrm>
            <a:off x="1487550" y="3531350"/>
            <a:ext cx="6168900" cy="3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title" idx="4" hasCustomPrompt="1"/>
          </p:nvPr>
        </p:nvSpPr>
        <p:spPr>
          <a:xfrm>
            <a:off x="4703900" y="1249150"/>
            <a:ext cx="2952600" cy="736200"/>
          </a:xfrm>
          <a:prstGeom prst="rect">
            <a:avLst/>
          </a:prstGeom>
          <a:solidFill>
            <a:srgbClr val="C0C9D3">
              <a:alpha val="3608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3" name="Google Shape;183;p16"/>
          <p:cNvSpPr txBox="1">
            <a:spLocks noGrp="1"/>
          </p:cNvSpPr>
          <p:nvPr>
            <p:ph type="subTitle" idx="5"/>
          </p:nvPr>
        </p:nvSpPr>
        <p:spPr>
          <a:xfrm>
            <a:off x="4703969" y="2041950"/>
            <a:ext cx="2952600" cy="36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9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-4580800" y="2258927"/>
            <a:ext cx="9309101" cy="7880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19"/>
          <p:cNvGrpSpPr/>
          <p:nvPr/>
        </p:nvGrpSpPr>
        <p:grpSpPr>
          <a:xfrm>
            <a:off x="-2181225" y="-929166"/>
            <a:ext cx="8392524" cy="1946889"/>
            <a:chOff x="-2181225" y="-929166"/>
            <a:chExt cx="8392524" cy="1946889"/>
          </a:xfrm>
        </p:grpSpPr>
        <p:pic>
          <p:nvPicPr>
            <p:cNvPr id="214" name="Google Shape;21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1400175" y="-589678"/>
              <a:ext cx="7611474" cy="160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-2181225" y="-929166"/>
              <a:ext cx="8138925" cy="1370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6" name="Google Shape;216;p19"/>
          <p:cNvGrpSpPr/>
          <p:nvPr/>
        </p:nvGrpSpPr>
        <p:grpSpPr>
          <a:xfrm>
            <a:off x="7866125" y="4042145"/>
            <a:ext cx="5109126" cy="1708825"/>
            <a:chOff x="7866125" y="4042145"/>
            <a:chExt cx="5109126" cy="1708825"/>
          </a:xfrm>
        </p:grpSpPr>
        <p:pic>
          <p:nvPicPr>
            <p:cNvPr id="217" name="Google Shape;217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866125" y="4042145"/>
              <a:ext cx="3221051" cy="1708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1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8018526" y="4192453"/>
              <a:ext cx="4956724" cy="1408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9" name="Google Shape;219;p19"/>
          <p:cNvGrpSpPr/>
          <p:nvPr/>
        </p:nvGrpSpPr>
        <p:grpSpPr>
          <a:xfrm>
            <a:off x="-809625" y="4631173"/>
            <a:ext cx="3470199" cy="1196776"/>
            <a:chOff x="-809625" y="4631173"/>
            <a:chExt cx="3470199" cy="1196776"/>
          </a:xfrm>
        </p:grpSpPr>
        <p:pic>
          <p:nvPicPr>
            <p:cNvPr id="220" name="Google Shape;220;p1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-809625" y="4631173"/>
              <a:ext cx="3221050" cy="6302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1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-560475" y="4631179"/>
              <a:ext cx="3221049" cy="119677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22" name="Google Shape;222;p19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6088000" y="-4002823"/>
            <a:ext cx="9309101" cy="788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9"/>
          <p:cNvSpPr txBox="1">
            <a:spLocks noGrp="1"/>
          </p:cNvSpPr>
          <p:nvPr>
            <p:ph type="subTitle" idx="1"/>
          </p:nvPr>
        </p:nvSpPr>
        <p:spPr>
          <a:xfrm>
            <a:off x="2491020" y="1422525"/>
            <a:ext cx="4793100" cy="8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9"/>
          <p:cNvSpPr txBox="1">
            <a:spLocks noGrp="1"/>
          </p:cNvSpPr>
          <p:nvPr>
            <p:ph type="subTitle" idx="2"/>
          </p:nvPr>
        </p:nvSpPr>
        <p:spPr>
          <a:xfrm>
            <a:off x="2491020" y="3681525"/>
            <a:ext cx="4793100" cy="8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subTitle" idx="3"/>
          </p:nvPr>
        </p:nvSpPr>
        <p:spPr>
          <a:xfrm>
            <a:off x="2491020" y="2552025"/>
            <a:ext cx="4793100" cy="83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9"/>
          <p:cNvSpPr txBox="1">
            <a:spLocks noGrp="1"/>
          </p:cNvSpPr>
          <p:nvPr>
            <p:ph type="subTitle" idx="4"/>
          </p:nvPr>
        </p:nvSpPr>
        <p:spPr>
          <a:xfrm>
            <a:off x="2491020" y="1182800"/>
            <a:ext cx="4793100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subTitle" idx="5"/>
          </p:nvPr>
        </p:nvSpPr>
        <p:spPr>
          <a:xfrm>
            <a:off x="2491020" y="3441700"/>
            <a:ext cx="4793100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29" name="Google Shape;229;p19"/>
          <p:cNvSpPr txBox="1">
            <a:spLocks noGrp="1"/>
          </p:cNvSpPr>
          <p:nvPr>
            <p:ph type="subTitle" idx="6"/>
          </p:nvPr>
        </p:nvSpPr>
        <p:spPr>
          <a:xfrm>
            <a:off x="2491020" y="2312250"/>
            <a:ext cx="4793100" cy="36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1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>
            <a:off x="328662" y="3173302"/>
            <a:ext cx="9309101" cy="7880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21"/>
          <p:cNvGrpSpPr/>
          <p:nvPr/>
        </p:nvGrpSpPr>
        <p:grpSpPr>
          <a:xfrm>
            <a:off x="2076619" y="-508000"/>
            <a:ext cx="8426690" cy="1577975"/>
            <a:chOff x="1314619" y="-508000"/>
            <a:chExt cx="8426690" cy="1577975"/>
          </a:xfrm>
        </p:grpSpPr>
        <p:sp>
          <p:nvSpPr>
            <p:cNvPr id="253" name="Google Shape;253;p21"/>
            <p:cNvSpPr/>
            <p:nvPr/>
          </p:nvSpPr>
          <p:spPr>
            <a:xfrm flipH="1">
              <a:off x="1314619" y="-175975"/>
              <a:ext cx="8086556" cy="974919"/>
            </a:xfrm>
            <a:custGeom>
              <a:avLst/>
              <a:gdLst/>
              <a:ahLst/>
              <a:cxnLst/>
              <a:rect l="l" t="t" r="r" b="b"/>
              <a:pathLst>
                <a:path w="138214" h="18640" extrusionOk="0">
                  <a:moveTo>
                    <a:pt x="1" y="16304"/>
                  </a:moveTo>
                  <a:cubicBezTo>
                    <a:pt x="5191" y="18640"/>
                    <a:pt x="11326" y="17673"/>
                    <a:pt x="16575" y="15455"/>
                  </a:cubicBezTo>
                  <a:cubicBezTo>
                    <a:pt x="21825" y="13260"/>
                    <a:pt x="26508" y="9910"/>
                    <a:pt x="31617" y="7397"/>
                  </a:cubicBezTo>
                  <a:cubicBezTo>
                    <a:pt x="43307" y="1581"/>
                    <a:pt x="57133" y="213"/>
                    <a:pt x="69744" y="3587"/>
                  </a:cubicBezTo>
                  <a:cubicBezTo>
                    <a:pt x="79595" y="6241"/>
                    <a:pt x="88631" y="11656"/>
                    <a:pt x="98659" y="13532"/>
                  </a:cubicBezTo>
                  <a:cubicBezTo>
                    <a:pt x="112980" y="16210"/>
                    <a:pt x="128540" y="10889"/>
                    <a:pt x="138214" y="1"/>
                  </a:cubicBezTo>
                  <a:lnTo>
                    <a:pt x="1" y="1"/>
                  </a:lnTo>
                  <a:close/>
                </a:path>
              </a:pathLst>
            </a:custGeom>
            <a:gradFill>
              <a:gsLst>
                <a:gs pos="0">
                  <a:srgbClr val="C0C9D3">
                    <a:alpha val="50588"/>
                  </a:srgbClr>
                </a:gs>
                <a:gs pos="100000">
                  <a:srgbClr val="F8FAFB">
                    <a:alpha val="52941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1735534" y="-508000"/>
              <a:ext cx="8005775" cy="1577975"/>
            </a:xfrm>
            <a:custGeom>
              <a:avLst/>
              <a:gdLst/>
              <a:ahLst/>
              <a:cxnLst/>
              <a:rect l="l" t="t" r="r" b="b"/>
              <a:pathLst>
                <a:path w="320231" h="63119" extrusionOk="0">
                  <a:moveTo>
                    <a:pt x="1064" y="12065"/>
                  </a:moveTo>
                  <a:cubicBezTo>
                    <a:pt x="3541" y="15113"/>
                    <a:pt x="13256" y="21717"/>
                    <a:pt x="18590" y="24638"/>
                  </a:cubicBezTo>
                  <a:cubicBezTo>
                    <a:pt x="23924" y="27559"/>
                    <a:pt x="28242" y="28258"/>
                    <a:pt x="33068" y="29591"/>
                  </a:cubicBezTo>
                  <a:cubicBezTo>
                    <a:pt x="37894" y="30925"/>
                    <a:pt x="41831" y="32195"/>
                    <a:pt x="47546" y="32639"/>
                  </a:cubicBezTo>
                  <a:cubicBezTo>
                    <a:pt x="53261" y="33084"/>
                    <a:pt x="58532" y="34036"/>
                    <a:pt x="67358" y="32258"/>
                  </a:cubicBezTo>
                  <a:cubicBezTo>
                    <a:pt x="76185" y="30480"/>
                    <a:pt x="88758" y="25083"/>
                    <a:pt x="100505" y="21971"/>
                  </a:cubicBezTo>
                  <a:cubicBezTo>
                    <a:pt x="112253" y="18860"/>
                    <a:pt x="126985" y="14859"/>
                    <a:pt x="137843" y="13589"/>
                  </a:cubicBezTo>
                  <a:cubicBezTo>
                    <a:pt x="148702" y="12319"/>
                    <a:pt x="155560" y="13145"/>
                    <a:pt x="165656" y="14351"/>
                  </a:cubicBezTo>
                  <a:cubicBezTo>
                    <a:pt x="175753" y="15558"/>
                    <a:pt x="187246" y="17272"/>
                    <a:pt x="198422" y="20828"/>
                  </a:cubicBezTo>
                  <a:cubicBezTo>
                    <a:pt x="209598" y="24384"/>
                    <a:pt x="223441" y="31242"/>
                    <a:pt x="232712" y="35687"/>
                  </a:cubicBezTo>
                  <a:cubicBezTo>
                    <a:pt x="241983" y="40132"/>
                    <a:pt x="246936" y="43561"/>
                    <a:pt x="254048" y="47498"/>
                  </a:cubicBezTo>
                  <a:cubicBezTo>
                    <a:pt x="261160" y="51435"/>
                    <a:pt x="269542" y="56769"/>
                    <a:pt x="275384" y="59309"/>
                  </a:cubicBezTo>
                  <a:cubicBezTo>
                    <a:pt x="281226" y="61849"/>
                    <a:pt x="284782" y="62167"/>
                    <a:pt x="289100" y="62738"/>
                  </a:cubicBezTo>
                  <a:cubicBezTo>
                    <a:pt x="293418" y="63310"/>
                    <a:pt x="297228" y="63119"/>
                    <a:pt x="301292" y="62738"/>
                  </a:cubicBezTo>
                  <a:cubicBezTo>
                    <a:pt x="305356" y="62357"/>
                    <a:pt x="310817" y="61468"/>
                    <a:pt x="313484" y="60452"/>
                  </a:cubicBezTo>
                  <a:cubicBezTo>
                    <a:pt x="316151" y="59436"/>
                    <a:pt x="316215" y="58801"/>
                    <a:pt x="317294" y="56642"/>
                  </a:cubicBezTo>
                  <a:cubicBezTo>
                    <a:pt x="318374" y="54483"/>
                    <a:pt x="319517" y="53975"/>
                    <a:pt x="319961" y="47498"/>
                  </a:cubicBezTo>
                  <a:cubicBezTo>
                    <a:pt x="320406" y="41021"/>
                    <a:pt x="320025" y="25083"/>
                    <a:pt x="319961" y="17780"/>
                  </a:cubicBezTo>
                  <a:cubicBezTo>
                    <a:pt x="319898" y="10478"/>
                    <a:pt x="320787" y="6350"/>
                    <a:pt x="319580" y="3683"/>
                  </a:cubicBezTo>
                  <a:cubicBezTo>
                    <a:pt x="318374" y="1016"/>
                    <a:pt x="317993" y="2286"/>
                    <a:pt x="312722" y="1778"/>
                  </a:cubicBezTo>
                  <a:cubicBezTo>
                    <a:pt x="307452" y="1270"/>
                    <a:pt x="314119" y="889"/>
                    <a:pt x="287957" y="635"/>
                  </a:cubicBezTo>
                  <a:cubicBezTo>
                    <a:pt x="261795" y="381"/>
                    <a:pt x="193977" y="0"/>
                    <a:pt x="155750" y="254"/>
                  </a:cubicBezTo>
                  <a:cubicBezTo>
                    <a:pt x="117523" y="508"/>
                    <a:pt x="81773" y="1524"/>
                    <a:pt x="58595" y="2159"/>
                  </a:cubicBezTo>
                  <a:cubicBezTo>
                    <a:pt x="35418" y="2794"/>
                    <a:pt x="25829" y="3366"/>
                    <a:pt x="16685" y="4064"/>
                  </a:cubicBezTo>
                  <a:cubicBezTo>
                    <a:pt x="7541" y="4763"/>
                    <a:pt x="6335" y="5017"/>
                    <a:pt x="3731" y="6350"/>
                  </a:cubicBezTo>
                  <a:cubicBezTo>
                    <a:pt x="1128" y="7684"/>
                    <a:pt x="-1412" y="9017"/>
                    <a:pt x="1064" y="12065"/>
                  </a:cubicBezTo>
                  <a:close/>
                </a:path>
              </a:pathLst>
            </a:custGeom>
            <a:gradFill>
              <a:gsLst>
                <a:gs pos="0">
                  <a:srgbClr val="C0C9D3">
                    <a:alpha val="50588"/>
                  </a:srgbClr>
                </a:gs>
                <a:gs pos="100000">
                  <a:srgbClr val="F8FAFB">
                    <a:alpha val="52941"/>
                  </a:srgbClr>
                </a:gs>
              </a:gsLst>
              <a:lin ang="5400012" scaled="0"/>
            </a:gradFill>
            <a:ln>
              <a:noFill/>
            </a:ln>
          </p:spPr>
        </p:sp>
      </p:grpSp>
      <p:grpSp>
        <p:nvGrpSpPr>
          <p:cNvPr id="255" name="Google Shape;255;p21"/>
          <p:cNvGrpSpPr/>
          <p:nvPr/>
        </p:nvGrpSpPr>
        <p:grpSpPr>
          <a:xfrm flipH="1">
            <a:off x="-1831925" y="4421084"/>
            <a:ext cx="8400200" cy="1414464"/>
            <a:chOff x="1254175" y="2923609"/>
            <a:chExt cx="8400200" cy="1414464"/>
          </a:xfrm>
        </p:grpSpPr>
        <p:pic>
          <p:nvPicPr>
            <p:cNvPr id="256" name="Google Shape;25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63725" y="2997790"/>
              <a:ext cx="7513876" cy="1277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54175" y="2923609"/>
              <a:ext cx="8400200" cy="14144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" name="Google Shape;258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1"/>
          <p:cNvSpPr txBox="1">
            <a:spLocks noGrp="1"/>
          </p:cNvSpPr>
          <p:nvPr>
            <p:ph type="subTitle" idx="1"/>
          </p:nvPr>
        </p:nvSpPr>
        <p:spPr>
          <a:xfrm>
            <a:off x="1732423" y="1359502"/>
            <a:ext cx="2558100" cy="9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ubTitle" idx="2"/>
          </p:nvPr>
        </p:nvSpPr>
        <p:spPr>
          <a:xfrm>
            <a:off x="5524585" y="1359503"/>
            <a:ext cx="2558100" cy="9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1"/>
          <p:cNvSpPr txBox="1">
            <a:spLocks noGrp="1"/>
          </p:cNvSpPr>
          <p:nvPr>
            <p:ph type="subTitle" idx="3"/>
          </p:nvPr>
        </p:nvSpPr>
        <p:spPr>
          <a:xfrm>
            <a:off x="1732423" y="2513190"/>
            <a:ext cx="2558100" cy="9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4"/>
          </p:nvPr>
        </p:nvSpPr>
        <p:spPr>
          <a:xfrm>
            <a:off x="5524585" y="2514803"/>
            <a:ext cx="2558100" cy="9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subTitle" idx="5"/>
          </p:nvPr>
        </p:nvSpPr>
        <p:spPr>
          <a:xfrm>
            <a:off x="1732423" y="3666878"/>
            <a:ext cx="2558100" cy="9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6"/>
          </p:nvPr>
        </p:nvSpPr>
        <p:spPr>
          <a:xfrm>
            <a:off x="5524585" y="3670104"/>
            <a:ext cx="2558100" cy="9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subTitle" idx="7"/>
          </p:nvPr>
        </p:nvSpPr>
        <p:spPr>
          <a:xfrm>
            <a:off x="1732423" y="1138025"/>
            <a:ext cx="25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6" name="Google Shape;266;p21"/>
          <p:cNvSpPr txBox="1">
            <a:spLocks noGrp="1"/>
          </p:cNvSpPr>
          <p:nvPr>
            <p:ph type="subTitle" idx="8"/>
          </p:nvPr>
        </p:nvSpPr>
        <p:spPr>
          <a:xfrm>
            <a:off x="5524585" y="1138025"/>
            <a:ext cx="2547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subTitle" idx="9"/>
          </p:nvPr>
        </p:nvSpPr>
        <p:spPr>
          <a:xfrm>
            <a:off x="1732423" y="3449525"/>
            <a:ext cx="25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8" name="Google Shape;268;p21"/>
          <p:cNvSpPr txBox="1">
            <a:spLocks noGrp="1"/>
          </p:cNvSpPr>
          <p:nvPr>
            <p:ph type="subTitle" idx="13"/>
          </p:nvPr>
        </p:nvSpPr>
        <p:spPr>
          <a:xfrm>
            <a:off x="1732423" y="2293775"/>
            <a:ext cx="25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9" name="Google Shape;269;p21"/>
          <p:cNvSpPr txBox="1">
            <a:spLocks noGrp="1"/>
          </p:cNvSpPr>
          <p:nvPr>
            <p:ph type="subTitle" idx="14"/>
          </p:nvPr>
        </p:nvSpPr>
        <p:spPr>
          <a:xfrm>
            <a:off x="5524585" y="2293778"/>
            <a:ext cx="25479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70" name="Google Shape;270;p21"/>
          <p:cNvSpPr txBox="1">
            <a:spLocks noGrp="1"/>
          </p:cNvSpPr>
          <p:nvPr>
            <p:ph type="subTitle" idx="15"/>
          </p:nvPr>
        </p:nvSpPr>
        <p:spPr>
          <a:xfrm>
            <a:off x="5524585" y="3449531"/>
            <a:ext cx="254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23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rot="10800000" flipH="1">
            <a:off x="-5447563" y="535002"/>
            <a:ext cx="9309101" cy="7880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5" name="Google Shape;285;p23"/>
          <p:cNvGrpSpPr/>
          <p:nvPr/>
        </p:nvGrpSpPr>
        <p:grpSpPr>
          <a:xfrm rot="10800000" flipH="1">
            <a:off x="2293438" y="3928975"/>
            <a:ext cx="7073983" cy="1420051"/>
            <a:chOff x="3463488" y="-123425"/>
            <a:chExt cx="7073983" cy="1420051"/>
          </a:xfrm>
        </p:grpSpPr>
        <p:pic>
          <p:nvPicPr>
            <p:cNvPr id="286" name="Google Shape;286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776863" y="-123425"/>
              <a:ext cx="6724326" cy="14200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7" name="Google Shape;287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63487" y="-6825"/>
              <a:ext cx="7073983" cy="974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8" name="Google Shape;288;p23"/>
          <p:cNvGrpSpPr/>
          <p:nvPr/>
        </p:nvGrpSpPr>
        <p:grpSpPr>
          <a:xfrm>
            <a:off x="-575250" y="-906850"/>
            <a:ext cx="5565855" cy="1650120"/>
            <a:chOff x="4433100" y="-472987"/>
            <a:chExt cx="5399025" cy="1198779"/>
          </a:xfrm>
        </p:grpSpPr>
        <p:pic>
          <p:nvPicPr>
            <p:cNvPr id="289" name="Google Shape;289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33100" y="-355975"/>
              <a:ext cx="5163624" cy="8694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961525" y="-472987"/>
              <a:ext cx="4870600" cy="119877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1" name="Google Shape;291;p23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rot="10800000" flipH="1">
            <a:off x="5753837" y="-4437048"/>
            <a:ext cx="9309101" cy="7880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4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rot="10800000" flipH="1">
            <a:off x="-6696063" y="-364873"/>
            <a:ext cx="9309101" cy="788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4"/>
          <p:cNvPicPr preferRelativeResize="0"/>
          <p:nvPr/>
        </p:nvPicPr>
        <p:blipFill>
          <a:blip r:embed="rId2">
            <a:alphaModFix amt="86000"/>
          </a:blip>
          <a:stretch>
            <a:fillRect/>
          </a:stretch>
        </p:blipFill>
        <p:spPr>
          <a:xfrm rot="10800000" flipH="1">
            <a:off x="6419862" y="-1164973"/>
            <a:ext cx="9309101" cy="78809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24"/>
          <p:cNvGrpSpPr/>
          <p:nvPr/>
        </p:nvGrpSpPr>
        <p:grpSpPr>
          <a:xfrm rot="10800000" flipH="1">
            <a:off x="-1208137" y="-1164965"/>
            <a:ext cx="10207724" cy="2155679"/>
            <a:chOff x="-550850" y="4185098"/>
            <a:chExt cx="10207724" cy="2155679"/>
          </a:xfrm>
        </p:grpSpPr>
        <p:pic>
          <p:nvPicPr>
            <p:cNvPr id="296" name="Google Shape;296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550850" y="4185098"/>
              <a:ext cx="10207724" cy="21556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98450" y="4600763"/>
              <a:ext cx="2504500" cy="9305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132875" y="4520757"/>
              <a:ext cx="4211476" cy="7974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9" name="Google Shape;299;p24"/>
          <p:cNvGrpSpPr/>
          <p:nvPr/>
        </p:nvGrpSpPr>
        <p:grpSpPr>
          <a:xfrm flipH="1">
            <a:off x="-106375" y="4251241"/>
            <a:ext cx="10100130" cy="1495647"/>
            <a:chOff x="-382600" y="4598975"/>
            <a:chExt cx="10302050" cy="1110684"/>
          </a:xfrm>
        </p:grpSpPr>
        <p:pic>
          <p:nvPicPr>
            <p:cNvPr id="300" name="Google Shape;300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382600" y="4598975"/>
              <a:ext cx="10100426" cy="11106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2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819775" y="4686951"/>
              <a:ext cx="4099675" cy="8021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2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-137250" y="4914899"/>
              <a:ext cx="4211474" cy="5875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None/>
              <a:defRPr sz="3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  <p:sldLayoutId id="2147483662" r:id="rId11"/>
    <p:sldLayoutId id="2147483665" r:id="rId12"/>
    <p:sldLayoutId id="2147483667" r:id="rId13"/>
    <p:sldLayoutId id="2147483669" r:id="rId14"/>
    <p:sldLayoutId id="2147483670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4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>
            <a:spLocks noGrp="1"/>
          </p:cNvSpPr>
          <p:nvPr>
            <p:ph type="ctrTitle"/>
          </p:nvPr>
        </p:nvSpPr>
        <p:spPr>
          <a:xfrm>
            <a:off x="716280" y="556261"/>
            <a:ext cx="5219700" cy="22021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sz="3600" dirty="0"/>
              <a:t>Exploring Workplace Mental Health through Data Science</a:t>
            </a:r>
          </a:p>
        </p:txBody>
      </p:sp>
      <p:pic>
        <p:nvPicPr>
          <p:cNvPr id="315" name="Google Shape;3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1775" y="872364"/>
            <a:ext cx="2708875" cy="442217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F913A4F0-386B-7F67-36B2-078E64ABCB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86740" y="3155474"/>
            <a:ext cx="545503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Arkadyuti Bhattacharjee (2025MS006)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Ushosree Raha (2025MS027)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Yazhini K (2025MS032)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 Guidance: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Dr. Yashwant Singh Patel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Institute: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ABV-IIITM Gwalior (2025)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47048E4-8CE9-0BDB-8467-C4A72FEB4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219822"/>
              </p:ext>
            </p:extLst>
          </p:nvPr>
        </p:nvGraphicFramePr>
        <p:xfrm>
          <a:off x="1226820" y="1203960"/>
          <a:ext cx="6256020" cy="3154680"/>
        </p:xfrm>
        <a:graphic>
          <a:graphicData uri="http://schemas.openxmlformats.org/drawingml/2006/table">
            <a:tbl>
              <a:tblPr firstRow="1" bandRow="1">
                <a:tableStyleId>{D2F5FCD5-A4A0-497C-A82E-1AB7BE2D9750}</a:tableStyleId>
              </a:tblPr>
              <a:tblGrid>
                <a:gridCol w="6256020">
                  <a:extLst>
                    <a:ext uri="{9D8B030D-6E8A-4147-A177-3AD203B41FA5}">
                      <a16:colId xmlns:a16="http://schemas.microsoft.com/office/drawing/2014/main" val="414885645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Aims &amp; Overview and Mental Health challenges, problems , objectives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949941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Dataset Description and 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52493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Confusion Matrix , Model Comparison and Performance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1781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Feature Important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55136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EWI 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22713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EWI 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52849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Policy Recommendation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74184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Future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78108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Acknowledgement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07775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CD98960-9DEE-2B50-5070-7B047CC54BDE}"/>
              </a:ext>
            </a:extLst>
          </p:cNvPr>
          <p:cNvSpPr txBox="1"/>
          <p:nvPr/>
        </p:nvSpPr>
        <p:spPr>
          <a:xfrm>
            <a:off x="2468880" y="554027"/>
            <a:ext cx="3794760" cy="461665"/>
          </a:xfrm>
          <a:prstGeom prst="rect">
            <a:avLst/>
          </a:prstGeom>
          <a:solidFill>
            <a:schemeClr val="tx1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>
            <a:spLocks noGrp="1"/>
          </p:cNvSpPr>
          <p:nvPr>
            <p:ph type="title"/>
          </p:nvPr>
        </p:nvSpPr>
        <p:spPr>
          <a:xfrm>
            <a:off x="769621" y="480061"/>
            <a:ext cx="5897880" cy="8305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Aim &amp; Overview</a:t>
            </a:r>
            <a:endParaRPr dirty="0"/>
          </a:p>
        </p:txBody>
      </p:sp>
      <p:pic>
        <p:nvPicPr>
          <p:cNvPr id="348" name="Google Shape;3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3225" y="742950"/>
            <a:ext cx="5240051" cy="46807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756B83-5997-6DCF-0A34-D6A4EDDC8108}"/>
              </a:ext>
            </a:extLst>
          </p:cNvPr>
          <p:cNvSpPr txBox="1"/>
          <p:nvPr/>
        </p:nvSpPr>
        <p:spPr>
          <a:xfrm>
            <a:off x="502921" y="1706880"/>
            <a:ext cx="58978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Aim:</a:t>
            </a:r>
            <a:r>
              <a:rPr lang="en-US" dirty="0">
                <a:solidFill>
                  <a:schemeClr val="tx1"/>
                </a:solidFill>
              </a:rPr>
              <a:t> Analyze workplace mental health using data science and create a predictive early warning system.</a:t>
            </a:r>
          </a:p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Dataset: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Mental Health in Tech Survey (Kaggle)</a:t>
            </a:r>
          </a:p>
          <a:p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Features Used: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Work interference, Family history, Benefits &amp; wellness programs</a:t>
            </a:r>
          </a:p>
          <a:p>
            <a:r>
              <a:rPr lang="en-US" dirty="0">
                <a:solidFill>
                  <a:schemeClr val="tx1"/>
                </a:solidFill>
              </a:rPr>
              <a:t>Seek help, Remote work status, Manager support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Models:</a:t>
            </a:r>
            <a:r>
              <a:rPr lang="en-US" dirty="0">
                <a:solidFill>
                  <a:schemeClr val="tx1"/>
                </a:solidFill>
              </a:rPr>
              <a:t> Random Forest, </a:t>
            </a:r>
            <a:r>
              <a:rPr lang="en-US" dirty="0" err="1">
                <a:solidFill>
                  <a:schemeClr val="tx1"/>
                </a:solidFill>
              </a:rPr>
              <a:t>XGBoost</a:t>
            </a:r>
            <a:r>
              <a:rPr lang="en-US" dirty="0">
                <a:solidFill>
                  <a:schemeClr val="tx1"/>
                </a:solidFill>
              </a:rPr>
              <a:t>, and Stacking Ensemble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Key Output:</a:t>
            </a:r>
            <a:r>
              <a:rPr lang="en-US" dirty="0">
                <a:solidFill>
                  <a:schemeClr val="tx1"/>
                </a:solidFill>
              </a:rPr>
              <a:t> Early Warning Index (EWI)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8"/>
          <p:cNvSpPr txBox="1">
            <a:spLocks noGrp="1"/>
          </p:cNvSpPr>
          <p:nvPr>
            <p:ph type="subTitle" idx="1"/>
          </p:nvPr>
        </p:nvSpPr>
        <p:spPr>
          <a:xfrm>
            <a:off x="708660" y="3200402"/>
            <a:ext cx="7551420" cy="1408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Mental health affects productivity, absenteeism, and turnover.</a:t>
            </a:r>
          </a:p>
          <a:p>
            <a:r>
              <a:rPr lang="en-US" dirty="0"/>
              <a:t>Tech industry faces unique stressors: long hours, deadlines, high cognitive load.</a:t>
            </a:r>
          </a:p>
          <a:p>
            <a:r>
              <a:rPr lang="en-US" dirty="0"/>
              <a:t>Need for proactive, data-driven well-being monitoring.</a:t>
            </a:r>
          </a:p>
          <a:p>
            <a:r>
              <a:rPr lang="en-US" dirty="0"/>
              <a:t>Mental health issues are common but often unnoticed. Our goal is to predict and prevent risks before they grow.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7" name="Google Shape;507;p38"/>
          <p:cNvSpPr txBox="1">
            <a:spLocks noGrp="1"/>
          </p:cNvSpPr>
          <p:nvPr>
            <p:ph type="title"/>
          </p:nvPr>
        </p:nvSpPr>
        <p:spPr>
          <a:xfrm>
            <a:off x="1493250" y="2118361"/>
            <a:ext cx="6157500" cy="9372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Understanding Workplace Mental Health Challenges</a:t>
            </a:r>
            <a:endParaRPr sz="2800" dirty="0"/>
          </a:p>
        </p:txBody>
      </p:sp>
      <p:pic>
        <p:nvPicPr>
          <p:cNvPr id="508" name="Google Shape;50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0380" y="380800"/>
            <a:ext cx="2484120" cy="159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>
            <a:spLocks noGrp="1"/>
          </p:cNvSpPr>
          <p:nvPr>
            <p:ph type="subTitle" idx="4"/>
          </p:nvPr>
        </p:nvSpPr>
        <p:spPr>
          <a:xfrm>
            <a:off x="5455919" y="852949"/>
            <a:ext cx="2385061" cy="4846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/>
              <a:t>objectives</a:t>
            </a:r>
            <a:endParaRPr sz="2400" dirty="0"/>
          </a:p>
        </p:txBody>
      </p:sp>
      <p:sp>
        <p:nvSpPr>
          <p:cNvPr id="364" name="Google Shape;364;p33"/>
          <p:cNvSpPr txBox="1">
            <a:spLocks noGrp="1"/>
          </p:cNvSpPr>
          <p:nvPr>
            <p:ph type="subTitle" idx="3"/>
          </p:nvPr>
        </p:nvSpPr>
        <p:spPr>
          <a:xfrm>
            <a:off x="922020" y="685800"/>
            <a:ext cx="3406140" cy="7283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Problem statement</a:t>
            </a:r>
            <a:endParaRPr sz="2400" dirty="0"/>
          </a:p>
        </p:txBody>
      </p:sp>
      <p:grpSp>
        <p:nvGrpSpPr>
          <p:cNvPr id="365" name="Google Shape;365;p33"/>
          <p:cNvGrpSpPr/>
          <p:nvPr/>
        </p:nvGrpSpPr>
        <p:grpSpPr>
          <a:xfrm>
            <a:off x="4815842" y="852949"/>
            <a:ext cx="503845" cy="485591"/>
            <a:chOff x="6797165" y="3038564"/>
            <a:chExt cx="441891" cy="425882"/>
          </a:xfrm>
        </p:grpSpPr>
        <p:sp>
          <p:nvSpPr>
            <p:cNvPr id="366" name="Google Shape;366;p33"/>
            <p:cNvSpPr/>
            <p:nvPr/>
          </p:nvSpPr>
          <p:spPr>
            <a:xfrm>
              <a:off x="6797165" y="3038564"/>
              <a:ext cx="208753" cy="425882"/>
            </a:xfrm>
            <a:custGeom>
              <a:avLst/>
              <a:gdLst/>
              <a:ahLst/>
              <a:cxnLst/>
              <a:rect l="l" t="t" r="r" b="b"/>
              <a:pathLst>
                <a:path w="5907" h="12051" extrusionOk="0">
                  <a:moveTo>
                    <a:pt x="3049" y="4501"/>
                  </a:moveTo>
                  <a:cubicBezTo>
                    <a:pt x="3930" y="4501"/>
                    <a:pt x="4645" y="5216"/>
                    <a:pt x="4645" y="6073"/>
                  </a:cubicBezTo>
                  <a:cubicBezTo>
                    <a:pt x="4645" y="6883"/>
                    <a:pt x="3930" y="7597"/>
                    <a:pt x="3049" y="7597"/>
                  </a:cubicBezTo>
                  <a:cubicBezTo>
                    <a:pt x="2835" y="7597"/>
                    <a:pt x="2692" y="7407"/>
                    <a:pt x="2692" y="7240"/>
                  </a:cubicBezTo>
                  <a:cubicBezTo>
                    <a:pt x="2692" y="7026"/>
                    <a:pt x="2859" y="6883"/>
                    <a:pt x="3049" y="6883"/>
                  </a:cubicBezTo>
                  <a:cubicBezTo>
                    <a:pt x="3525" y="6883"/>
                    <a:pt x="3906" y="6502"/>
                    <a:pt x="3906" y="6049"/>
                  </a:cubicBezTo>
                  <a:cubicBezTo>
                    <a:pt x="3906" y="5597"/>
                    <a:pt x="3525" y="5216"/>
                    <a:pt x="3049" y="5216"/>
                  </a:cubicBezTo>
                  <a:cubicBezTo>
                    <a:pt x="2835" y="5216"/>
                    <a:pt x="2692" y="5025"/>
                    <a:pt x="2692" y="4859"/>
                  </a:cubicBezTo>
                  <a:cubicBezTo>
                    <a:pt x="2692" y="4644"/>
                    <a:pt x="2859" y="4501"/>
                    <a:pt x="3049" y="4501"/>
                  </a:cubicBezTo>
                  <a:close/>
                  <a:moveTo>
                    <a:pt x="4669" y="0"/>
                  </a:moveTo>
                  <a:cubicBezTo>
                    <a:pt x="3645" y="0"/>
                    <a:pt x="2811" y="810"/>
                    <a:pt x="2740" y="1787"/>
                  </a:cubicBezTo>
                  <a:cubicBezTo>
                    <a:pt x="2930" y="2334"/>
                    <a:pt x="3430" y="2715"/>
                    <a:pt x="4026" y="2715"/>
                  </a:cubicBezTo>
                  <a:cubicBezTo>
                    <a:pt x="4192" y="2715"/>
                    <a:pt x="4383" y="2858"/>
                    <a:pt x="4383" y="3049"/>
                  </a:cubicBezTo>
                  <a:cubicBezTo>
                    <a:pt x="4407" y="3287"/>
                    <a:pt x="4240" y="3454"/>
                    <a:pt x="4026" y="3454"/>
                  </a:cubicBezTo>
                  <a:cubicBezTo>
                    <a:pt x="3121" y="3454"/>
                    <a:pt x="2311" y="2882"/>
                    <a:pt x="2049" y="2096"/>
                  </a:cubicBezTo>
                  <a:cubicBezTo>
                    <a:pt x="1525" y="2453"/>
                    <a:pt x="1168" y="3001"/>
                    <a:pt x="1168" y="3692"/>
                  </a:cubicBezTo>
                  <a:cubicBezTo>
                    <a:pt x="1168" y="3930"/>
                    <a:pt x="1215" y="4168"/>
                    <a:pt x="1311" y="4406"/>
                  </a:cubicBezTo>
                  <a:cubicBezTo>
                    <a:pt x="572" y="4668"/>
                    <a:pt x="1" y="5383"/>
                    <a:pt x="1" y="6216"/>
                  </a:cubicBezTo>
                  <a:cubicBezTo>
                    <a:pt x="1" y="7002"/>
                    <a:pt x="477" y="7693"/>
                    <a:pt x="1192" y="7978"/>
                  </a:cubicBezTo>
                  <a:cubicBezTo>
                    <a:pt x="1096" y="8216"/>
                    <a:pt x="1049" y="8478"/>
                    <a:pt x="1049" y="8764"/>
                  </a:cubicBezTo>
                  <a:cubicBezTo>
                    <a:pt x="1049" y="9264"/>
                    <a:pt x="1263" y="9741"/>
                    <a:pt x="1644" y="10122"/>
                  </a:cubicBezTo>
                  <a:cubicBezTo>
                    <a:pt x="1763" y="10241"/>
                    <a:pt x="1882" y="10336"/>
                    <a:pt x="2001" y="10384"/>
                  </a:cubicBezTo>
                  <a:cubicBezTo>
                    <a:pt x="2144" y="9312"/>
                    <a:pt x="3073" y="8478"/>
                    <a:pt x="4192" y="8455"/>
                  </a:cubicBezTo>
                  <a:cubicBezTo>
                    <a:pt x="4383" y="8455"/>
                    <a:pt x="4549" y="8597"/>
                    <a:pt x="4573" y="8788"/>
                  </a:cubicBezTo>
                  <a:cubicBezTo>
                    <a:pt x="4621" y="9002"/>
                    <a:pt x="4430" y="9193"/>
                    <a:pt x="4216" y="9193"/>
                  </a:cubicBezTo>
                  <a:cubicBezTo>
                    <a:pt x="3430" y="9193"/>
                    <a:pt x="2740" y="9860"/>
                    <a:pt x="2740" y="10669"/>
                  </a:cubicBezTo>
                  <a:cubicBezTo>
                    <a:pt x="2859" y="11003"/>
                    <a:pt x="3073" y="11312"/>
                    <a:pt x="3335" y="11574"/>
                  </a:cubicBezTo>
                  <a:cubicBezTo>
                    <a:pt x="3692" y="11884"/>
                    <a:pt x="4168" y="12051"/>
                    <a:pt x="4645" y="12051"/>
                  </a:cubicBezTo>
                  <a:cubicBezTo>
                    <a:pt x="5121" y="12051"/>
                    <a:pt x="5573" y="11884"/>
                    <a:pt x="5883" y="11622"/>
                  </a:cubicBezTo>
                  <a:lnTo>
                    <a:pt x="5907" y="429"/>
                  </a:lnTo>
                  <a:cubicBezTo>
                    <a:pt x="5573" y="143"/>
                    <a:pt x="5145" y="0"/>
                    <a:pt x="4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3"/>
            <p:cNvSpPr/>
            <p:nvPr/>
          </p:nvSpPr>
          <p:spPr>
            <a:xfrm>
              <a:off x="7031152" y="3038564"/>
              <a:ext cx="207905" cy="425034"/>
            </a:xfrm>
            <a:custGeom>
              <a:avLst/>
              <a:gdLst/>
              <a:ahLst/>
              <a:cxnLst/>
              <a:rect l="l" t="t" r="r" b="b"/>
              <a:pathLst>
                <a:path w="5883" h="12027" extrusionOk="0">
                  <a:moveTo>
                    <a:pt x="2882" y="4406"/>
                  </a:moveTo>
                  <a:cubicBezTo>
                    <a:pt x="3096" y="4406"/>
                    <a:pt x="3239" y="4597"/>
                    <a:pt x="3239" y="4763"/>
                  </a:cubicBezTo>
                  <a:cubicBezTo>
                    <a:pt x="3239" y="4978"/>
                    <a:pt x="3049" y="5121"/>
                    <a:pt x="2882" y="5121"/>
                  </a:cubicBezTo>
                  <a:cubicBezTo>
                    <a:pt x="2406" y="5121"/>
                    <a:pt x="2025" y="5502"/>
                    <a:pt x="2025" y="5954"/>
                  </a:cubicBezTo>
                  <a:cubicBezTo>
                    <a:pt x="2025" y="6454"/>
                    <a:pt x="2406" y="6859"/>
                    <a:pt x="2882" y="6859"/>
                  </a:cubicBezTo>
                  <a:cubicBezTo>
                    <a:pt x="3096" y="6859"/>
                    <a:pt x="3239" y="7026"/>
                    <a:pt x="3239" y="7216"/>
                  </a:cubicBezTo>
                  <a:cubicBezTo>
                    <a:pt x="3239" y="7407"/>
                    <a:pt x="3049" y="7573"/>
                    <a:pt x="2882" y="7573"/>
                  </a:cubicBezTo>
                  <a:cubicBezTo>
                    <a:pt x="1977" y="7573"/>
                    <a:pt x="1262" y="6859"/>
                    <a:pt x="1262" y="5978"/>
                  </a:cubicBezTo>
                  <a:cubicBezTo>
                    <a:pt x="1262" y="5121"/>
                    <a:pt x="1977" y="4406"/>
                    <a:pt x="2882" y="4406"/>
                  </a:cubicBezTo>
                  <a:close/>
                  <a:moveTo>
                    <a:pt x="1215" y="0"/>
                  </a:moveTo>
                  <a:cubicBezTo>
                    <a:pt x="762" y="0"/>
                    <a:pt x="358" y="143"/>
                    <a:pt x="0" y="429"/>
                  </a:cubicBezTo>
                  <a:lnTo>
                    <a:pt x="0" y="11574"/>
                  </a:lnTo>
                  <a:cubicBezTo>
                    <a:pt x="358" y="11860"/>
                    <a:pt x="762" y="12027"/>
                    <a:pt x="1239" y="12027"/>
                  </a:cubicBezTo>
                  <a:cubicBezTo>
                    <a:pt x="1715" y="12027"/>
                    <a:pt x="2191" y="11860"/>
                    <a:pt x="2548" y="11550"/>
                  </a:cubicBezTo>
                  <a:cubicBezTo>
                    <a:pt x="2858" y="11312"/>
                    <a:pt x="3025" y="10979"/>
                    <a:pt x="3144" y="10622"/>
                  </a:cubicBezTo>
                  <a:cubicBezTo>
                    <a:pt x="3144" y="9812"/>
                    <a:pt x="2453" y="9193"/>
                    <a:pt x="1667" y="9169"/>
                  </a:cubicBezTo>
                  <a:cubicBezTo>
                    <a:pt x="1477" y="9169"/>
                    <a:pt x="1310" y="9026"/>
                    <a:pt x="1262" y="8836"/>
                  </a:cubicBezTo>
                  <a:cubicBezTo>
                    <a:pt x="1239" y="8597"/>
                    <a:pt x="1429" y="8431"/>
                    <a:pt x="1620" y="8431"/>
                  </a:cubicBezTo>
                  <a:cubicBezTo>
                    <a:pt x="2763" y="8431"/>
                    <a:pt x="3715" y="9264"/>
                    <a:pt x="3834" y="10360"/>
                  </a:cubicBezTo>
                  <a:cubicBezTo>
                    <a:pt x="3954" y="10264"/>
                    <a:pt x="4096" y="10169"/>
                    <a:pt x="4192" y="10098"/>
                  </a:cubicBezTo>
                  <a:cubicBezTo>
                    <a:pt x="4573" y="9741"/>
                    <a:pt x="4787" y="9240"/>
                    <a:pt x="4787" y="8717"/>
                  </a:cubicBezTo>
                  <a:cubicBezTo>
                    <a:pt x="4787" y="8455"/>
                    <a:pt x="4716" y="8193"/>
                    <a:pt x="4644" y="7954"/>
                  </a:cubicBezTo>
                  <a:cubicBezTo>
                    <a:pt x="5406" y="7693"/>
                    <a:pt x="5882" y="7002"/>
                    <a:pt x="5882" y="6192"/>
                  </a:cubicBezTo>
                  <a:cubicBezTo>
                    <a:pt x="5882" y="5359"/>
                    <a:pt x="5359" y="4644"/>
                    <a:pt x="4573" y="4382"/>
                  </a:cubicBezTo>
                  <a:cubicBezTo>
                    <a:pt x="4668" y="4144"/>
                    <a:pt x="4716" y="3906"/>
                    <a:pt x="4716" y="3668"/>
                  </a:cubicBezTo>
                  <a:cubicBezTo>
                    <a:pt x="4716" y="2977"/>
                    <a:pt x="4358" y="2382"/>
                    <a:pt x="3834" y="2049"/>
                  </a:cubicBezTo>
                  <a:cubicBezTo>
                    <a:pt x="3525" y="2858"/>
                    <a:pt x="2763" y="3454"/>
                    <a:pt x="1858" y="3454"/>
                  </a:cubicBezTo>
                  <a:cubicBezTo>
                    <a:pt x="1691" y="3454"/>
                    <a:pt x="1501" y="3311"/>
                    <a:pt x="1477" y="3120"/>
                  </a:cubicBezTo>
                  <a:cubicBezTo>
                    <a:pt x="1453" y="2930"/>
                    <a:pt x="1620" y="2715"/>
                    <a:pt x="1834" y="2715"/>
                  </a:cubicBezTo>
                  <a:cubicBezTo>
                    <a:pt x="2429" y="2715"/>
                    <a:pt x="2977" y="2334"/>
                    <a:pt x="3144" y="1787"/>
                  </a:cubicBezTo>
                  <a:cubicBezTo>
                    <a:pt x="3096" y="786"/>
                    <a:pt x="2215" y="0"/>
                    <a:pt x="12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8" name="Google Shape;368;p33"/>
          <p:cNvSpPr/>
          <p:nvPr/>
        </p:nvSpPr>
        <p:spPr>
          <a:xfrm>
            <a:off x="504400" y="928581"/>
            <a:ext cx="417620" cy="485563"/>
          </a:xfrm>
          <a:custGeom>
            <a:avLst/>
            <a:gdLst/>
            <a:ahLst/>
            <a:cxnLst/>
            <a:rect l="l" t="t" r="r" b="b"/>
            <a:pathLst>
              <a:path w="11027" h="12821" extrusionOk="0">
                <a:moveTo>
                  <a:pt x="4978" y="0"/>
                </a:moveTo>
                <a:cubicBezTo>
                  <a:pt x="4281" y="0"/>
                  <a:pt x="3596" y="150"/>
                  <a:pt x="2953" y="454"/>
                </a:cubicBezTo>
                <a:cubicBezTo>
                  <a:pt x="3142" y="430"/>
                  <a:pt x="3334" y="416"/>
                  <a:pt x="3527" y="416"/>
                </a:cubicBezTo>
                <a:cubicBezTo>
                  <a:pt x="3893" y="416"/>
                  <a:pt x="4262" y="464"/>
                  <a:pt x="4620" y="573"/>
                </a:cubicBezTo>
                <a:cubicBezTo>
                  <a:pt x="5216" y="740"/>
                  <a:pt x="5811" y="1050"/>
                  <a:pt x="6287" y="1478"/>
                </a:cubicBezTo>
                <a:cubicBezTo>
                  <a:pt x="6954" y="2121"/>
                  <a:pt x="7383" y="2955"/>
                  <a:pt x="7430" y="3860"/>
                </a:cubicBezTo>
                <a:cubicBezTo>
                  <a:pt x="7502" y="4788"/>
                  <a:pt x="7216" y="5693"/>
                  <a:pt x="6573" y="6360"/>
                </a:cubicBezTo>
                <a:cubicBezTo>
                  <a:pt x="6073" y="6932"/>
                  <a:pt x="5382" y="7289"/>
                  <a:pt x="4620" y="7313"/>
                </a:cubicBezTo>
                <a:cubicBezTo>
                  <a:pt x="4537" y="7321"/>
                  <a:pt x="4455" y="7324"/>
                  <a:pt x="4373" y="7324"/>
                </a:cubicBezTo>
                <a:cubicBezTo>
                  <a:pt x="3700" y="7324"/>
                  <a:pt x="3058" y="7068"/>
                  <a:pt x="2548" y="6622"/>
                </a:cubicBezTo>
                <a:cubicBezTo>
                  <a:pt x="1572" y="5741"/>
                  <a:pt x="1524" y="4264"/>
                  <a:pt x="2358" y="3288"/>
                </a:cubicBezTo>
                <a:cubicBezTo>
                  <a:pt x="2715" y="2883"/>
                  <a:pt x="3191" y="2645"/>
                  <a:pt x="3692" y="2621"/>
                </a:cubicBezTo>
                <a:cubicBezTo>
                  <a:pt x="3747" y="2617"/>
                  <a:pt x="3801" y="2615"/>
                  <a:pt x="3855" y="2615"/>
                </a:cubicBezTo>
                <a:cubicBezTo>
                  <a:pt x="4120" y="2615"/>
                  <a:pt x="4358" y="2665"/>
                  <a:pt x="4597" y="2764"/>
                </a:cubicBezTo>
                <a:cubicBezTo>
                  <a:pt x="4763" y="2859"/>
                  <a:pt x="4930" y="2955"/>
                  <a:pt x="5097" y="3098"/>
                </a:cubicBezTo>
                <a:cubicBezTo>
                  <a:pt x="5430" y="3407"/>
                  <a:pt x="5621" y="3788"/>
                  <a:pt x="5621" y="4241"/>
                </a:cubicBezTo>
                <a:cubicBezTo>
                  <a:pt x="5644" y="4669"/>
                  <a:pt x="5501" y="5098"/>
                  <a:pt x="5216" y="5431"/>
                </a:cubicBezTo>
                <a:cubicBezTo>
                  <a:pt x="4978" y="5693"/>
                  <a:pt x="4620" y="5860"/>
                  <a:pt x="4263" y="5908"/>
                </a:cubicBezTo>
                <a:cubicBezTo>
                  <a:pt x="4239" y="5909"/>
                  <a:pt x="4215" y="5909"/>
                  <a:pt x="4191" y="5909"/>
                </a:cubicBezTo>
                <a:cubicBezTo>
                  <a:pt x="3742" y="5909"/>
                  <a:pt x="3319" y="5697"/>
                  <a:pt x="3025" y="5312"/>
                </a:cubicBezTo>
                <a:cubicBezTo>
                  <a:pt x="3025" y="5312"/>
                  <a:pt x="3001" y="5265"/>
                  <a:pt x="3001" y="5241"/>
                </a:cubicBezTo>
                <a:cubicBezTo>
                  <a:pt x="2739" y="4717"/>
                  <a:pt x="2858" y="4122"/>
                  <a:pt x="3263" y="3764"/>
                </a:cubicBezTo>
                <a:cubicBezTo>
                  <a:pt x="3311" y="3717"/>
                  <a:pt x="3334" y="3717"/>
                  <a:pt x="3358" y="3717"/>
                </a:cubicBezTo>
                <a:cubicBezTo>
                  <a:pt x="3368" y="3716"/>
                  <a:pt x="3378" y="3716"/>
                  <a:pt x="3388" y="3716"/>
                </a:cubicBezTo>
                <a:cubicBezTo>
                  <a:pt x="3862" y="3716"/>
                  <a:pt x="3947" y="4268"/>
                  <a:pt x="3620" y="4431"/>
                </a:cubicBezTo>
                <a:cubicBezTo>
                  <a:pt x="3572" y="4479"/>
                  <a:pt x="3549" y="4526"/>
                  <a:pt x="3572" y="4598"/>
                </a:cubicBezTo>
                <a:cubicBezTo>
                  <a:pt x="3662" y="4935"/>
                  <a:pt x="3922" y="5124"/>
                  <a:pt x="4211" y="5124"/>
                </a:cubicBezTo>
                <a:cubicBezTo>
                  <a:pt x="4229" y="5124"/>
                  <a:pt x="4246" y="5123"/>
                  <a:pt x="4263" y="5122"/>
                </a:cubicBezTo>
                <a:cubicBezTo>
                  <a:pt x="4430" y="5122"/>
                  <a:pt x="4573" y="5027"/>
                  <a:pt x="4692" y="4907"/>
                </a:cubicBezTo>
                <a:cubicBezTo>
                  <a:pt x="5025" y="4550"/>
                  <a:pt x="5001" y="4003"/>
                  <a:pt x="4620" y="3669"/>
                </a:cubicBezTo>
                <a:cubicBezTo>
                  <a:pt x="4402" y="3473"/>
                  <a:pt x="4124" y="3357"/>
                  <a:pt x="3823" y="3357"/>
                </a:cubicBezTo>
                <a:cubicBezTo>
                  <a:pt x="3795" y="3357"/>
                  <a:pt x="3767" y="3358"/>
                  <a:pt x="3739" y="3360"/>
                </a:cubicBezTo>
                <a:cubicBezTo>
                  <a:pt x="3430" y="3407"/>
                  <a:pt x="3120" y="3526"/>
                  <a:pt x="2906" y="3788"/>
                </a:cubicBezTo>
                <a:cubicBezTo>
                  <a:pt x="2310" y="4431"/>
                  <a:pt x="2382" y="5455"/>
                  <a:pt x="3072" y="6051"/>
                </a:cubicBezTo>
                <a:cubicBezTo>
                  <a:pt x="3436" y="6393"/>
                  <a:pt x="3916" y="6582"/>
                  <a:pt x="4407" y="6582"/>
                </a:cubicBezTo>
                <a:cubicBezTo>
                  <a:pt x="4462" y="6582"/>
                  <a:pt x="4517" y="6579"/>
                  <a:pt x="4573" y="6574"/>
                </a:cubicBezTo>
                <a:cubicBezTo>
                  <a:pt x="5144" y="6551"/>
                  <a:pt x="5644" y="6313"/>
                  <a:pt x="6002" y="5860"/>
                </a:cubicBezTo>
                <a:cubicBezTo>
                  <a:pt x="6478" y="5336"/>
                  <a:pt x="6716" y="4622"/>
                  <a:pt x="6692" y="3907"/>
                </a:cubicBezTo>
                <a:cubicBezTo>
                  <a:pt x="6668" y="3193"/>
                  <a:pt x="6335" y="2502"/>
                  <a:pt x="5811" y="2026"/>
                </a:cubicBezTo>
                <a:cubicBezTo>
                  <a:pt x="5454" y="1693"/>
                  <a:pt x="5049" y="1502"/>
                  <a:pt x="4620" y="1335"/>
                </a:cubicBezTo>
                <a:cubicBezTo>
                  <a:pt x="4265" y="1217"/>
                  <a:pt x="3894" y="1158"/>
                  <a:pt x="3521" y="1158"/>
                </a:cubicBezTo>
                <a:cubicBezTo>
                  <a:pt x="2546" y="1158"/>
                  <a:pt x="1564" y="1560"/>
                  <a:pt x="858" y="2336"/>
                </a:cubicBezTo>
                <a:cubicBezTo>
                  <a:pt x="619" y="2597"/>
                  <a:pt x="405" y="2931"/>
                  <a:pt x="286" y="3288"/>
                </a:cubicBezTo>
                <a:cubicBezTo>
                  <a:pt x="96" y="3812"/>
                  <a:pt x="0" y="4407"/>
                  <a:pt x="0" y="5003"/>
                </a:cubicBezTo>
                <a:cubicBezTo>
                  <a:pt x="0" y="5717"/>
                  <a:pt x="143" y="6408"/>
                  <a:pt x="453" y="7051"/>
                </a:cubicBezTo>
                <a:cubicBezTo>
                  <a:pt x="715" y="7622"/>
                  <a:pt x="1048" y="8122"/>
                  <a:pt x="1477" y="8575"/>
                </a:cubicBezTo>
                <a:lnTo>
                  <a:pt x="1477" y="11433"/>
                </a:lnTo>
                <a:cubicBezTo>
                  <a:pt x="1477" y="11623"/>
                  <a:pt x="1596" y="11766"/>
                  <a:pt x="1786" y="11790"/>
                </a:cubicBezTo>
                <a:lnTo>
                  <a:pt x="7026" y="12814"/>
                </a:lnTo>
                <a:cubicBezTo>
                  <a:pt x="7046" y="12818"/>
                  <a:pt x="7067" y="12821"/>
                  <a:pt x="7087" y="12821"/>
                </a:cubicBezTo>
                <a:cubicBezTo>
                  <a:pt x="7283" y="12821"/>
                  <a:pt x="7478" y="12625"/>
                  <a:pt x="7478" y="12409"/>
                </a:cubicBezTo>
                <a:lnTo>
                  <a:pt x="7478" y="11504"/>
                </a:lnTo>
                <a:lnTo>
                  <a:pt x="8550" y="11504"/>
                </a:lnTo>
                <a:cubicBezTo>
                  <a:pt x="9050" y="11504"/>
                  <a:pt x="9502" y="11147"/>
                  <a:pt x="9550" y="10623"/>
                </a:cubicBezTo>
                <a:lnTo>
                  <a:pt x="9860" y="8837"/>
                </a:lnTo>
                <a:lnTo>
                  <a:pt x="10002" y="8837"/>
                </a:lnTo>
                <a:cubicBezTo>
                  <a:pt x="10336" y="8837"/>
                  <a:pt x="10622" y="8670"/>
                  <a:pt x="10812" y="8408"/>
                </a:cubicBezTo>
                <a:cubicBezTo>
                  <a:pt x="11026" y="8099"/>
                  <a:pt x="11026" y="7741"/>
                  <a:pt x="10860" y="7456"/>
                </a:cubicBezTo>
                <a:lnTo>
                  <a:pt x="9955" y="5812"/>
                </a:lnTo>
                <a:cubicBezTo>
                  <a:pt x="10121" y="4741"/>
                  <a:pt x="9955" y="3645"/>
                  <a:pt x="9431" y="2597"/>
                </a:cubicBezTo>
                <a:cubicBezTo>
                  <a:pt x="9002" y="1693"/>
                  <a:pt x="8240" y="954"/>
                  <a:pt x="7311" y="549"/>
                </a:cubicBezTo>
                <a:cubicBezTo>
                  <a:pt x="6546" y="186"/>
                  <a:pt x="5754" y="0"/>
                  <a:pt x="497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3DC7526-C4DD-0624-29FA-6FED06D95D64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922020" y="1516380"/>
            <a:ext cx="3299143" cy="2647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HR surveys 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predictive.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early-warning tools for organizations.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privacy and interpretability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build a responsible system to detect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group-level risk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individuals.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C886C4-16C2-0CEC-C95B-3D57B2007CC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999038" y="1409035"/>
            <a:ext cx="34972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robust machine learning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interpretable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Warning Index (EWI)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 risk through dashboards and KPIs.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Simulate policy impact (e.g., reducing work interference).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Translate findings into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policies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>
          <a:extLst>
            <a:ext uri="{FF2B5EF4-FFF2-40B4-BE49-F238E27FC236}">
              <a16:creationId xmlns:a16="http://schemas.microsoft.com/office/drawing/2014/main" id="{73E569F4-47B0-DDA7-D301-B48FAF0A8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>
            <a:extLst>
              <a:ext uri="{FF2B5EF4-FFF2-40B4-BE49-F238E27FC236}">
                <a16:creationId xmlns:a16="http://schemas.microsoft.com/office/drawing/2014/main" id="{D15DFD09-E30E-9FBC-B910-AB55145973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Description</a:t>
            </a:r>
            <a:endParaRPr dirty="0"/>
          </a:p>
        </p:txBody>
      </p:sp>
      <p:grpSp>
        <p:nvGrpSpPr>
          <p:cNvPr id="387" name="Google Shape;387;p34">
            <a:extLst>
              <a:ext uri="{FF2B5EF4-FFF2-40B4-BE49-F238E27FC236}">
                <a16:creationId xmlns:a16="http://schemas.microsoft.com/office/drawing/2014/main" id="{8F8AD43B-487E-D85F-7C45-E92E9B5CC495}"/>
              </a:ext>
            </a:extLst>
          </p:cNvPr>
          <p:cNvGrpSpPr/>
          <p:nvPr/>
        </p:nvGrpSpPr>
        <p:grpSpPr>
          <a:xfrm>
            <a:off x="332939" y="546292"/>
            <a:ext cx="385525" cy="449222"/>
            <a:chOff x="1224083" y="1705328"/>
            <a:chExt cx="384641" cy="448147"/>
          </a:xfrm>
        </p:grpSpPr>
        <p:sp>
          <p:nvSpPr>
            <p:cNvPr id="388" name="Google Shape;388;p34">
              <a:extLst>
                <a:ext uri="{FF2B5EF4-FFF2-40B4-BE49-F238E27FC236}">
                  <a16:creationId xmlns:a16="http://schemas.microsoft.com/office/drawing/2014/main" id="{5F374698-2C30-3F62-15DE-A457C8ECAABE}"/>
                </a:ext>
              </a:extLst>
            </p:cNvPr>
            <p:cNvSpPr/>
            <p:nvPr/>
          </p:nvSpPr>
          <p:spPr>
            <a:xfrm>
              <a:off x="1309075" y="1778693"/>
              <a:ext cx="177619" cy="177619"/>
            </a:xfrm>
            <a:custGeom>
              <a:avLst/>
              <a:gdLst/>
              <a:ahLst/>
              <a:cxnLst/>
              <a:rect l="l" t="t" r="r" b="b"/>
              <a:pathLst>
                <a:path w="5026" h="5026" extrusionOk="0">
                  <a:moveTo>
                    <a:pt x="2540" y="1417"/>
                  </a:moveTo>
                  <a:cubicBezTo>
                    <a:pt x="2823" y="1417"/>
                    <a:pt x="3108" y="1525"/>
                    <a:pt x="3335" y="1739"/>
                  </a:cubicBezTo>
                  <a:cubicBezTo>
                    <a:pt x="3549" y="1953"/>
                    <a:pt x="3668" y="2215"/>
                    <a:pt x="3668" y="2525"/>
                  </a:cubicBezTo>
                  <a:cubicBezTo>
                    <a:pt x="3620" y="2787"/>
                    <a:pt x="3501" y="3096"/>
                    <a:pt x="3311" y="3287"/>
                  </a:cubicBezTo>
                  <a:cubicBezTo>
                    <a:pt x="3097" y="3501"/>
                    <a:pt x="2787" y="3620"/>
                    <a:pt x="2525" y="3620"/>
                  </a:cubicBezTo>
                  <a:cubicBezTo>
                    <a:pt x="2239" y="3620"/>
                    <a:pt x="1953" y="3501"/>
                    <a:pt x="1763" y="3287"/>
                  </a:cubicBezTo>
                  <a:cubicBezTo>
                    <a:pt x="1549" y="3096"/>
                    <a:pt x="1429" y="2810"/>
                    <a:pt x="1429" y="2525"/>
                  </a:cubicBezTo>
                  <a:cubicBezTo>
                    <a:pt x="1429" y="2215"/>
                    <a:pt x="1549" y="1953"/>
                    <a:pt x="1763" y="1739"/>
                  </a:cubicBezTo>
                  <a:cubicBezTo>
                    <a:pt x="1977" y="1525"/>
                    <a:pt x="2257" y="1417"/>
                    <a:pt x="2540" y="1417"/>
                  </a:cubicBezTo>
                  <a:close/>
                  <a:moveTo>
                    <a:pt x="2287" y="0"/>
                  </a:moveTo>
                  <a:lnTo>
                    <a:pt x="2120" y="739"/>
                  </a:lnTo>
                  <a:cubicBezTo>
                    <a:pt x="2072" y="786"/>
                    <a:pt x="2049" y="882"/>
                    <a:pt x="2001" y="905"/>
                  </a:cubicBezTo>
                  <a:cubicBezTo>
                    <a:pt x="1928" y="978"/>
                    <a:pt x="1828" y="1007"/>
                    <a:pt x="1729" y="1007"/>
                  </a:cubicBezTo>
                  <a:cubicBezTo>
                    <a:pt x="1666" y="1007"/>
                    <a:pt x="1604" y="995"/>
                    <a:pt x="1549" y="977"/>
                  </a:cubicBezTo>
                  <a:lnTo>
                    <a:pt x="882" y="548"/>
                  </a:lnTo>
                  <a:lnTo>
                    <a:pt x="572" y="882"/>
                  </a:lnTo>
                  <a:lnTo>
                    <a:pt x="953" y="1548"/>
                  </a:lnTo>
                  <a:cubicBezTo>
                    <a:pt x="977" y="1596"/>
                    <a:pt x="1001" y="1667"/>
                    <a:pt x="1001" y="1739"/>
                  </a:cubicBezTo>
                  <a:cubicBezTo>
                    <a:pt x="1001" y="1929"/>
                    <a:pt x="882" y="2048"/>
                    <a:pt x="739" y="2096"/>
                  </a:cubicBezTo>
                  <a:lnTo>
                    <a:pt x="1" y="2287"/>
                  </a:lnTo>
                  <a:lnTo>
                    <a:pt x="1" y="2739"/>
                  </a:lnTo>
                  <a:lnTo>
                    <a:pt x="739" y="2906"/>
                  </a:lnTo>
                  <a:cubicBezTo>
                    <a:pt x="882" y="2930"/>
                    <a:pt x="1001" y="3072"/>
                    <a:pt x="1001" y="3263"/>
                  </a:cubicBezTo>
                  <a:cubicBezTo>
                    <a:pt x="1001" y="3334"/>
                    <a:pt x="977" y="3406"/>
                    <a:pt x="953" y="3477"/>
                  </a:cubicBezTo>
                  <a:lnTo>
                    <a:pt x="572" y="4120"/>
                  </a:lnTo>
                  <a:lnTo>
                    <a:pt x="882" y="4454"/>
                  </a:lnTo>
                  <a:lnTo>
                    <a:pt x="1549" y="4049"/>
                  </a:lnTo>
                  <a:cubicBezTo>
                    <a:pt x="1608" y="4009"/>
                    <a:pt x="1676" y="3990"/>
                    <a:pt x="1744" y="3990"/>
                  </a:cubicBezTo>
                  <a:cubicBezTo>
                    <a:pt x="1838" y="3990"/>
                    <a:pt x="1932" y="4027"/>
                    <a:pt x="2001" y="4096"/>
                  </a:cubicBezTo>
                  <a:cubicBezTo>
                    <a:pt x="2049" y="4168"/>
                    <a:pt x="2072" y="4216"/>
                    <a:pt x="2120" y="4287"/>
                  </a:cubicBezTo>
                  <a:lnTo>
                    <a:pt x="2287" y="5025"/>
                  </a:lnTo>
                  <a:lnTo>
                    <a:pt x="2739" y="5025"/>
                  </a:lnTo>
                  <a:lnTo>
                    <a:pt x="2906" y="4287"/>
                  </a:lnTo>
                  <a:cubicBezTo>
                    <a:pt x="2954" y="4216"/>
                    <a:pt x="2977" y="4120"/>
                    <a:pt x="3025" y="4096"/>
                  </a:cubicBezTo>
                  <a:cubicBezTo>
                    <a:pt x="3092" y="4029"/>
                    <a:pt x="3182" y="4000"/>
                    <a:pt x="3273" y="4000"/>
                  </a:cubicBezTo>
                  <a:cubicBezTo>
                    <a:pt x="3344" y="4000"/>
                    <a:pt x="3415" y="4018"/>
                    <a:pt x="3478" y="4049"/>
                  </a:cubicBezTo>
                  <a:lnTo>
                    <a:pt x="4144" y="4454"/>
                  </a:lnTo>
                  <a:lnTo>
                    <a:pt x="4454" y="4120"/>
                  </a:lnTo>
                  <a:lnTo>
                    <a:pt x="4049" y="3477"/>
                  </a:lnTo>
                  <a:cubicBezTo>
                    <a:pt x="3978" y="3382"/>
                    <a:pt x="3978" y="3239"/>
                    <a:pt x="4025" y="3144"/>
                  </a:cubicBezTo>
                  <a:cubicBezTo>
                    <a:pt x="4073" y="3025"/>
                    <a:pt x="4168" y="2977"/>
                    <a:pt x="4287" y="2930"/>
                  </a:cubicBezTo>
                  <a:lnTo>
                    <a:pt x="5025" y="2763"/>
                  </a:lnTo>
                  <a:lnTo>
                    <a:pt x="5025" y="2310"/>
                  </a:lnTo>
                  <a:lnTo>
                    <a:pt x="4287" y="2144"/>
                  </a:lnTo>
                  <a:cubicBezTo>
                    <a:pt x="4168" y="2048"/>
                    <a:pt x="4073" y="1953"/>
                    <a:pt x="4025" y="1858"/>
                  </a:cubicBezTo>
                  <a:cubicBezTo>
                    <a:pt x="3954" y="1739"/>
                    <a:pt x="3978" y="1620"/>
                    <a:pt x="4049" y="1548"/>
                  </a:cubicBezTo>
                  <a:lnTo>
                    <a:pt x="4454" y="882"/>
                  </a:lnTo>
                  <a:lnTo>
                    <a:pt x="4144" y="548"/>
                  </a:lnTo>
                  <a:lnTo>
                    <a:pt x="3478" y="977"/>
                  </a:lnTo>
                  <a:cubicBezTo>
                    <a:pt x="3425" y="1012"/>
                    <a:pt x="3366" y="1027"/>
                    <a:pt x="3307" y="1027"/>
                  </a:cubicBezTo>
                  <a:cubicBezTo>
                    <a:pt x="3204" y="1027"/>
                    <a:pt x="3100" y="981"/>
                    <a:pt x="3025" y="905"/>
                  </a:cubicBezTo>
                  <a:cubicBezTo>
                    <a:pt x="2977" y="858"/>
                    <a:pt x="2954" y="786"/>
                    <a:pt x="2906" y="739"/>
                  </a:cubicBezTo>
                  <a:lnTo>
                    <a:pt x="27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4">
              <a:extLst>
                <a:ext uri="{FF2B5EF4-FFF2-40B4-BE49-F238E27FC236}">
                  <a16:creationId xmlns:a16="http://schemas.microsoft.com/office/drawing/2014/main" id="{EE8D223A-D395-69E3-0C75-879652B40946}"/>
                </a:ext>
              </a:extLst>
            </p:cNvPr>
            <p:cNvSpPr/>
            <p:nvPr/>
          </p:nvSpPr>
          <p:spPr>
            <a:xfrm>
              <a:off x="1384809" y="1854957"/>
              <a:ext cx="26964" cy="26046"/>
            </a:xfrm>
            <a:custGeom>
              <a:avLst/>
              <a:gdLst/>
              <a:ahLst/>
              <a:cxnLst/>
              <a:rect l="l" t="t" r="r" b="b"/>
              <a:pathLst>
                <a:path w="763" h="737" extrusionOk="0">
                  <a:moveTo>
                    <a:pt x="363" y="1"/>
                  </a:moveTo>
                  <a:cubicBezTo>
                    <a:pt x="330" y="1"/>
                    <a:pt x="297" y="4"/>
                    <a:pt x="263" y="9"/>
                  </a:cubicBezTo>
                  <a:cubicBezTo>
                    <a:pt x="239" y="9"/>
                    <a:pt x="239" y="9"/>
                    <a:pt x="215" y="33"/>
                  </a:cubicBezTo>
                  <a:cubicBezTo>
                    <a:pt x="96" y="81"/>
                    <a:pt x="1" y="248"/>
                    <a:pt x="1" y="367"/>
                  </a:cubicBezTo>
                  <a:cubicBezTo>
                    <a:pt x="1" y="462"/>
                    <a:pt x="25" y="533"/>
                    <a:pt x="120" y="629"/>
                  </a:cubicBezTo>
                  <a:cubicBezTo>
                    <a:pt x="191" y="700"/>
                    <a:pt x="284" y="736"/>
                    <a:pt x="378" y="736"/>
                  </a:cubicBezTo>
                  <a:cubicBezTo>
                    <a:pt x="504" y="736"/>
                    <a:pt x="633" y="670"/>
                    <a:pt x="715" y="533"/>
                  </a:cubicBezTo>
                  <a:cubicBezTo>
                    <a:pt x="739" y="510"/>
                    <a:pt x="739" y="486"/>
                    <a:pt x="739" y="438"/>
                  </a:cubicBezTo>
                  <a:cubicBezTo>
                    <a:pt x="763" y="295"/>
                    <a:pt x="739" y="176"/>
                    <a:pt x="644" y="105"/>
                  </a:cubicBezTo>
                  <a:cubicBezTo>
                    <a:pt x="571" y="32"/>
                    <a:pt x="471" y="1"/>
                    <a:pt x="3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4">
              <a:extLst>
                <a:ext uri="{FF2B5EF4-FFF2-40B4-BE49-F238E27FC236}">
                  <a16:creationId xmlns:a16="http://schemas.microsoft.com/office/drawing/2014/main" id="{DF3609A4-8B06-7568-E62D-6AA767CC6644}"/>
                </a:ext>
              </a:extLst>
            </p:cNvPr>
            <p:cNvSpPr/>
            <p:nvPr/>
          </p:nvSpPr>
          <p:spPr>
            <a:xfrm>
              <a:off x="1224083" y="1705328"/>
              <a:ext cx="384641" cy="448147"/>
            </a:xfrm>
            <a:custGeom>
              <a:avLst/>
              <a:gdLst/>
              <a:ahLst/>
              <a:cxnLst/>
              <a:rect l="l" t="t" r="r" b="b"/>
              <a:pathLst>
                <a:path w="10884" h="12681" extrusionOk="0">
                  <a:moveTo>
                    <a:pt x="5430" y="1314"/>
                  </a:moveTo>
                  <a:cubicBezTo>
                    <a:pt x="5621" y="1314"/>
                    <a:pt x="5763" y="1433"/>
                    <a:pt x="5787" y="1576"/>
                  </a:cubicBezTo>
                  <a:lnTo>
                    <a:pt x="5954" y="2124"/>
                  </a:lnTo>
                  <a:lnTo>
                    <a:pt x="6430" y="1838"/>
                  </a:lnTo>
                  <a:cubicBezTo>
                    <a:pt x="6490" y="1798"/>
                    <a:pt x="6554" y="1779"/>
                    <a:pt x="6616" y="1779"/>
                  </a:cubicBezTo>
                  <a:cubicBezTo>
                    <a:pt x="6704" y="1779"/>
                    <a:pt x="6790" y="1817"/>
                    <a:pt x="6859" y="1886"/>
                  </a:cubicBezTo>
                  <a:lnTo>
                    <a:pt x="7573" y="2600"/>
                  </a:lnTo>
                  <a:cubicBezTo>
                    <a:pt x="7692" y="2719"/>
                    <a:pt x="7740" y="2910"/>
                    <a:pt x="7645" y="3053"/>
                  </a:cubicBezTo>
                  <a:lnTo>
                    <a:pt x="7335" y="3529"/>
                  </a:lnTo>
                  <a:lnTo>
                    <a:pt x="7883" y="3672"/>
                  </a:lnTo>
                  <a:cubicBezTo>
                    <a:pt x="8050" y="3696"/>
                    <a:pt x="8145" y="3839"/>
                    <a:pt x="8145" y="4029"/>
                  </a:cubicBezTo>
                  <a:lnTo>
                    <a:pt x="8169" y="5101"/>
                  </a:lnTo>
                  <a:cubicBezTo>
                    <a:pt x="8169" y="5291"/>
                    <a:pt x="8050" y="5434"/>
                    <a:pt x="7907" y="5458"/>
                  </a:cubicBezTo>
                  <a:lnTo>
                    <a:pt x="7359" y="5577"/>
                  </a:lnTo>
                  <a:lnTo>
                    <a:pt x="7669" y="6053"/>
                  </a:lnTo>
                  <a:cubicBezTo>
                    <a:pt x="7764" y="6196"/>
                    <a:pt x="7716" y="6387"/>
                    <a:pt x="7621" y="6506"/>
                  </a:cubicBezTo>
                  <a:lnTo>
                    <a:pt x="6883" y="7220"/>
                  </a:lnTo>
                  <a:cubicBezTo>
                    <a:pt x="6813" y="7290"/>
                    <a:pt x="6728" y="7327"/>
                    <a:pt x="6640" y="7327"/>
                  </a:cubicBezTo>
                  <a:cubicBezTo>
                    <a:pt x="6578" y="7327"/>
                    <a:pt x="6514" y="7308"/>
                    <a:pt x="6454" y="7268"/>
                  </a:cubicBezTo>
                  <a:lnTo>
                    <a:pt x="5978" y="6982"/>
                  </a:lnTo>
                  <a:lnTo>
                    <a:pt x="5859" y="7506"/>
                  </a:lnTo>
                  <a:cubicBezTo>
                    <a:pt x="5835" y="7697"/>
                    <a:pt x="5668" y="7768"/>
                    <a:pt x="5502" y="7768"/>
                  </a:cubicBezTo>
                  <a:lnTo>
                    <a:pt x="4406" y="7768"/>
                  </a:lnTo>
                  <a:cubicBezTo>
                    <a:pt x="4216" y="7768"/>
                    <a:pt x="4073" y="7649"/>
                    <a:pt x="4049" y="7506"/>
                  </a:cubicBezTo>
                  <a:lnTo>
                    <a:pt x="3882" y="6982"/>
                  </a:lnTo>
                  <a:lnTo>
                    <a:pt x="3406" y="7268"/>
                  </a:lnTo>
                  <a:cubicBezTo>
                    <a:pt x="3346" y="7308"/>
                    <a:pt x="3282" y="7327"/>
                    <a:pt x="3220" y="7327"/>
                  </a:cubicBezTo>
                  <a:cubicBezTo>
                    <a:pt x="3132" y="7327"/>
                    <a:pt x="3047" y="7290"/>
                    <a:pt x="2977" y="7220"/>
                  </a:cubicBezTo>
                  <a:lnTo>
                    <a:pt x="2263" y="6506"/>
                  </a:lnTo>
                  <a:cubicBezTo>
                    <a:pt x="2144" y="6387"/>
                    <a:pt x="2096" y="6196"/>
                    <a:pt x="2191" y="6053"/>
                  </a:cubicBezTo>
                  <a:lnTo>
                    <a:pt x="2501" y="5577"/>
                  </a:lnTo>
                  <a:lnTo>
                    <a:pt x="1953" y="5434"/>
                  </a:lnTo>
                  <a:cubicBezTo>
                    <a:pt x="1786" y="5387"/>
                    <a:pt x="1691" y="5244"/>
                    <a:pt x="1691" y="5077"/>
                  </a:cubicBezTo>
                  <a:lnTo>
                    <a:pt x="1691" y="4029"/>
                  </a:lnTo>
                  <a:cubicBezTo>
                    <a:pt x="1691" y="3839"/>
                    <a:pt x="1810" y="3696"/>
                    <a:pt x="1953" y="3672"/>
                  </a:cubicBezTo>
                  <a:lnTo>
                    <a:pt x="2501" y="3529"/>
                  </a:lnTo>
                  <a:lnTo>
                    <a:pt x="2191" y="3053"/>
                  </a:lnTo>
                  <a:cubicBezTo>
                    <a:pt x="2096" y="2910"/>
                    <a:pt x="2144" y="2719"/>
                    <a:pt x="2263" y="2600"/>
                  </a:cubicBezTo>
                  <a:lnTo>
                    <a:pt x="2977" y="1886"/>
                  </a:lnTo>
                  <a:cubicBezTo>
                    <a:pt x="3047" y="1817"/>
                    <a:pt x="3132" y="1779"/>
                    <a:pt x="3220" y="1779"/>
                  </a:cubicBezTo>
                  <a:cubicBezTo>
                    <a:pt x="3282" y="1779"/>
                    <a:pt x="3346" y="1798"/>
                    <a:pt x="3406" y="1838"/>
                  </a:cubicBezTo>
                  <a:lnTo>
                    <a:pt x="3882" y="2124"/>
                  </a:lnTo>
                  <a:lnTo>
                    <a:pt x="4049" y="1576"/>
                  </a:lnTo>
                  <a:cubicBezTo>
                    <a:pt x="4073" y="1410"/>
                    <a:pt x="4216" y="1314"/>
                    <a:pt x="4406" y="1314"/>
                  </a:cubicBezTo>
                  <a:close/>
                  <a:moveTo>
                    <a:pt x="4931" y="1"/>
                  </a:moveTo>
                  <a:cubicBezTo>
                    <a:pt x="3997" y="1"/>
                    <a:pt x="3087" y="265"/>
                    <a:pt x="2287" y="790"/>
                  </a:cubicBezTo>
                  <a:cubicBezTo>
                    <a:pt x="858" y="1719"/>
                    <a:pt x="0" y="3267"/>
                    <a:pt x="0" y="4958"/>
                  </a:cubicBezTo>
                  <a:cubicBezTo>
                    <a:pt x="0" y="5672"/>
                    <a:pt x="143" y="6315"/>
                    <a:pt x="405" y="6982"/>
                  </a:cubicBezTo>
                  <a:cubicBezTo>
                    <a:pt x="643" y="7554"/>
                    <a:pt x="1001" y="8054"/>
                    <a:pt x="1453" y="8506"/>
                  </a:cubicBezTo>
                  <a:lnTo>
                    <a:pt x="1453" y="11316"/>
                  </a:lnTo>
                  <a:cubicBezTo>
                    <a:pt x="1453" y="11507"/>
                    <a:pt x="1572" y="11650"/>
                    <a:pt x="1739" y="11674"/>
                  </a:cubicBezTo>
                  <a:lnTo>
                    <a:pt x="6930" y="12674"/>
                  </a:lnTo>
                  <a:cubicBezTo>
                    <a:pt x="6951" y="12678"/>
                    <a:pt x="6972" y="12681"/>
                    <a:pt x="6992" y="12681"/>
                  </a:cubicBezTo>
                  <a:cubicBezTo>
                    <a:pt x="7188" y="12681"/>
                    <a:pt x="7383" y="12489"/>
                    <a:pt x="7383" y="12317"/>
                  </a:cubicBezTo>
                  <a:lnTo>
                    <a:pt x="7383" y="11388"/>
                  </a:lnTo>
                  <a:lnTo>
                    <a:pt x="8455" y="11388"/>
                  </a:lnTo>
                  <a:cubicBezTo>
                    <a:pt x="8955" y="11388"/>
                    <a:pt x="9359" y="11031"/>
                    <a:pt x="9455" y="10530"/>
                  </a:cubicBezTo>
                  <a:lnTo>
                    <a:pt x="9764" y="8744"/>
                  </a:lnTo>
                  <a:lnTo>
                    <a:pt x="9907" y="8744"/>
                  </a:lnTo>
                  <a:cubicBezTo>
                    <a:pt x="10241" y="8744"/>
                    <a:pt x="10526" y="8554"/>
                    <a:pt x="10669" y="8292"/>
                  </a:cubicBezTo>
                  <a:cubicBezTo>
                    <a:pt x="10884" y="7982"/>
                    <a:pt x="10884" y="7625"/>
                    <a:pt x="10741" y="7363"/>
                  </a:cubicBezTo>
                  <a:lnTo>
                    <a:pt x="9812" y="5768"/>
                  </a:lnTo>
                  <a:cubicBezTo>
                    <a:pt x="10002" y="4720"/>
                    <a:pt x="9812" y="3624"/>
                    <a:pt x="9312" y="2576"/>
                  </a:cubicBezTo>
                  <a:cubicBezTo>
                    <a:pt x="8859" y="1672"/>
                    <a:pt x="8145" y="933"/>
                    <a:pt x="7216" y="528"/>
                  </a:cubicBezTo>
                  <a:cubicBezTo>
                    <a:pt x="6468" y="176"/>
                    <a:pt x="5692" y="1"/>
                    <a:pt x="49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73309F7B-B044-170A-35AC-FF6061D6D1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19138" y="1288924"/>
            <a:ext cx="45005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Dataset: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Mental Health in Tech Survey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(1250+ responses)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 Demographics, work conditions, benefits, treatment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Preprocessing: missing value imputation, encoding, scaling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train-test split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E118696-93C9-EBFA-4150-697924636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060" y="546292"/>
            <a:ext cx="3444240" cy="375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94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4"/>
          <p:cNvSpPr txBox="1">
            <a:spLocks noGrp="1"/>
          </p:cNvSpPr>
          <p:nvPr>
            <p:ph type="title"/>
          </p:nvPr>
        </p:nvSpPr>
        <p:spPr>
          <a:xfrm>
            <a:off x="960120" y="445025"/>
            <a:ext cx="746388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grpSp>
        <p:nvGrpSpPr>
          <p:cNvPr id="380" name="Google Shape;380;p34"/>
          <p:cNvGrpSpPr/>
          <p:nvPr/>
        </p:nvGrpSpPr>
        <p:grpSpPr>
          <a:xfrm>
            <a:off x="287730" y="583590"/>
            <a:ext cx="449208" cy="449208"/>
            <a:chOff x="7502446" y="3041074"/>
            <a:chExt cx="430936" cy="430936"/>
          </a:xfrm>
        </p:grpSpPr>
        <p:sp>
          <p:nvSpPr>
            <p:cNvPr id="381" name="Google Shape;381;p34"/>
            <p:cNvSpPr/>
            <p:nvPr/>
          </p:nvSpPr>
          <p:spPr>
            <a:xfrm>
              <a:off x="7722119" y="3091574"/>
              <a:ext cx="122064" cy="136377"/>
            </a:xfrm>
            <a:custGeom>
              <a:avLst/>
              <a:gdLst/>
              <a:ahLst/>
              <a:cxnLst/>
              <a:rect l="l" t="t" r="r" b="b"/>
              <a:pathLst>
                <a:path w="3454" h="3859" extrusionOk="0">
                  <a:moveTo>
                    <a:pt x="1286" y="1"/>
                  </a:moveTo>
                  <a:lnTo>
                    <a:pt x="1286" y="1"/>
                  </a:lnTo>
                  <a:cubicBezTo>
                    <a:pt x="524" y="287"/>
                    <a:pt x="0" y="1001"/>
                    <a:pt x="0" y="1858"/>
                  </a:cubicBezTo>
                  <a:cubicBezTo>
                    <a:pt x="24" y="2930"/>
                    <a:pt x="929" y="3859"/>
                    <a:pt x="2024" y="3859"/>
                  </a:cubicBezTo>
                  <a:cubicBezTo>
                    <a:pt x="2596" y="3859"/>
                    <a:pt x="3096" y="3621"/>
                    <a:pt x="3453" y="3263"/>
                  </a:cubicBezTo>
                  <a:cubicBezTo>
                    <a:pt x="2191" y="3025"/>
                    <a:pt x="1215" y="1930"/>
                    <a:pt x="1215" y="596"/>
                  </a:cubicBezTo>
                  <a:cubicBezTo>
                    <a:pt x="1215" y="382"/>
                    <a:pt x="1238" y="167"/>
                    <a:pt x="12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7792799" y="3041074"/>
              <a:ext cx="69903" cy="140689"/>
            </a:xfrm>
            <a:custGeom>
              <a:avLst/>
              <a:gdLst/>
              <a:ahLst/>
              <a:cxnLst/>
              <a:rect l="l" t="t" r="r" b="b"/>
              <a:pathLst>
                <a:path w="1978" h="3981" extrusionOk="0">
                  <a:moveTo>
                    <a:pt x="1977" y="1"/>
                  </a:moveTo>
                  <a:cubicBezTo>
                    <a:pt x="882" y="1"/>
                    <a:pt x="0" y="882"/>
                    <a:pt x="0" y="1978"/>
                  </a:cubicBezTo>
                  <a:cubicBezTo>
                    <a:pt x="0" y="3064"/>
                    <a:pt x="830" y="3925"/>
                    <a:pt x="1880" y="3976"/>
                  </a:cubicBezTo>
                  <a:lnTo>
                    <a:pt x="1880" y="3976"/>
                  </a:lnTo>
                  <a:cubicBezTo>
                    <a:pt x="1733" y="3949"/>
                    <a:pt x="1620" y="3821"/>
                    <a:pt x="1620" y="3645"/>
                  </a:cubicBezTo>
                  <a:lnTo>
                    <a:pt x="1620" y="358"/>
                  </a:lnTo>
                  <a:cubicBezTo>
                    <a:pt x="1620" y="144"/>
                    <a:pt x="1787" y="1"/>
                    <a:pt x="1977" y="1"/>
                  </a:cubicBezTo>
                  <a:close/>
                  <a:moveTo>
                    <a:pt x="1880" y="3976"/>
                  </a:moveTo>
                  <a:cubicBezTo>
                    <a:pt x="1898" y="3979"/>
                    <a:pt x="1917" y="3981"/>
                    <a:pt x="1936" y="3981"/>
                  </a:cubicBezTo>
                  <a:cubicBezTo>
                    <a:pt x="1949" y="3981"/>
                    <a:pt x="1963" y="3980"/>
                    <a:pt x="1977" y="3978"/>
                  </a:cubicBezTo>
                  <a:cubicBezTo>
                    <a:pt x="1944" y="3978"/>
                    <a:pt x="1912" y="3977"/>
                    <a:pt x="1880" y="397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862666" y="3041074"/>
              <a:ext cx="70715" cy="141431"/>
            </a:xfrm>
            <a:custGeom>
              <a:avLst/>
              <a:gdLst/>
              <a:ahLst/>
              <a:cxnLst/>
              <a:rect l="l" t="t" r="r" b="b"/>
              <a:pathLst>
                <a:path w="2001" h="4002" extrusionOk="0">
                  <a:moveTo>
                    <a:pt x="0" y="1"/>
                  </a:moveTo>
                  <a:cubicBezTo>
                    <a:pt x="214" y="1"/>
                    <a:pt x="357" y="144"/>
                    <a:pt x="357" y="358"/>
                  </a:cubicBezTo>
                  <a:lnTo>
                    <a:pt x="357" y="3645"/>
                  </a:lnTo>
                  <a:cubicBezTo>
                    <a:pt x="357" y="3859"/>
                    <a:pt x="214" y="4002"/>
                    <a:pt x="0" y="4002"/>
                  </a:cubicBezTo>
                  <a:cubicBezTo>
                    <a:pt x="1119" y="4002"/>
                    <a:pt x="2000" y="3121"/>
                    <a:pt x="2000" y="2025"/>
                  </a:cubicBezTo>
                  <a:cubicBezTo>
                    <a:pt x="2000" y="906"/>
                    <a:pt x="1119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7701057" y="3274212"/>
              <a:ext cx="197833" cy="197798"/>
            </a:xfrm>
            <a:custGeom>
              <a:avLst/>
              <a:gdLst/>
              <a:ahLst/>
              <a:cxnLst/>
              <a:rect l="l" t="t" r="r" b="b"/>
              <a:pathLst>
                <a:path w="5598" h="5597" extrusionOk="0">
                  <a:moveTo>
                    <a:pt x="3811" y="2453"/>
                  </a:moveTo>
                  <a:cubicBezTo>
                    <a:pt x="4025" y="2453"/>
                    <a:pt x="4168" y="2596"/>
                    <a:pt x="4168" y="2811"/>
                  </a:cubicBezTo>
                  <a:cubicBezTo>
                    <a:pt x="4168" y="3549"/>
                    <a:pt x="3573" y="4168"/>
                    <a:pt x="2787" y="4168"/>
                  </a:cubicBezTo>
                  <a:cubicBezTo>
                    <a:pt x="2049" y="4168"/>
                    <a:pt x="1430" y="3549"/>
                    <a:pt x="1430" y="2811"/>
                  </a:cubicBezTo>
                  <a:cubicBezTo>
                    <a:pt x="1430" y="2596"/>
                    <a:pt x="1572" y="2453"/>
                    <a:pt x="1787" y="2453"/>
                  </a:cubicBezTo>
                  <a:cubicBezTo>
                    <a:pt x="2001" y="2453"/>
                    <a:pt x="2144" y="2596"/>
                    <a:pt x="2144" y="2811"/>
                  </a:cubicBezTo>
                  <a:cubicBezTo>
                    <a:pt x="2144" y="3144"/>
                    <a:pt x="2430" y="3454"/>
                    <a:pt x="2787" y="3454"/>
                  </a:cubicBezTo>
                  <a:cubicBezTo>
                    <a:pt x="3144" y="3454"/>
                    <a:pt x="3454" y="3144"/>
                    <a:pt x="3454" y="2811"/>
                  </a:cubicBezTo>
                  <a:cubicBezTo>
                    <a:pt x="3454" y="2596"/>
                    <a:pt x="3597" y="2453"/>
                    <a:pt x="3811" y="2453"/>
                  </a:cubicBezTo>
                  <a:close/>
                  <a:moveTo>
                    <a:pt x="2787" y="1"/>
                  </a:moveTo>
                  <a:cubicBezTo>
                    <a:pt x="1239" y="1"/>
                    <a:pt x="1" y="1263"/>
                    <a:pt x="1" y="2811"/>
                  </a:cubicBezTo>
                  <a:cubicBezTo>
                    <a:pt x="1" y="4335"/>
                    <a:pt x="1239" y="5597"/>
                    <a:pt x="2787" y="5597"/>
                  </a:cubicBezTo>
                  <a:cubicBezTo>
                    <a:pt x="4335" y="5597"/>
                    <a:pt x="5597" y="4335"/>
                    <a:pt x="5597" y="2811"/>
                  </a:cubicBezTo>
                  <a:cubicBezTo>
                    <a:pt x="5597" y="1263"/>
                    <a:pt x="4335" y="1"/>
                    <a:pt x="2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7502446" y="3256542"/>
              <a:ext cx="175074" cy="149099"/>
            </a:xfrm>
            <a:custGeom>
              <a:avLst/>
              <a:gdLst/>
              <a:ahLst/>
              <a:cxnLst/>
              <a:rect l="l" t="t" r="r" b="b"/>
              <a:pathLst>
                <a:path w="4954" h="4219" extrusionOk="0">
                  <a:moveTo>
                    <a:pt x="0" y="0"/>
                  </a:moveTo>
                  <a:lnTo>
                    <a:pt x="0" y="1691"/>
                  </a:lnTo>
                  <a:cubicBezTo>
                    <a:pt x="0" y="3078"/>
                    <a:pt x="1123" y="4219"/>
                    <a:pt x="2452" y="4219"/>
                  </a:cubicBezTo>
                  <a:cubicBezTo>
                    <a:pt x="2492" y="4219"/>
                    <a:pt x="2532" y="4218"/>
                    <a:pt x="2572" y="4216"/>
                  </a:cubicBezTo>
                  <a:cubicBezTo>
                    <a:pt x="3882" y="4168"/>
                    <a:pt x="4954" y="3072"/>
                    <a:pt x="4954" y="1715"/>
                  </a:cubicBezTo>
                  <a:lnTo>
                    <a:pt x="4954" y="0"/>
                  </a:lnTo>
                  <a:cubicBezTo>
                    <a:pt x="4954" y="215"/>
                    <a:pt x="4811" y="358"/>
                    <a:pt x="4597" y="358"/>
                  </a:cubicBezTo>
                  <a:lnTo>
                    <a:pt x="358" y="358"/>
                  </a:lnTo>
                  <a:cubicBezTo>
                    <a:pt x="143" y="358"/>
                    <a:pt x="0" y="215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7502446" y="3106700"/>
              <a:ext cx="175074" cy="149877"/>
            </a:xfrm>
            <a:custGeom>
              <a:avLst/>
              <a:gdLst/>
              <a:ahLst/>
              <a:cxnLst/>
              <a:rect l="l" t="t" r="r" b="b"/>
              <a:pathLst>
                <a:path w="4954" h="4241" extrusionOk="0">
                  <a:moveTo>
                    <a:pt x="2488" y="0"/>
                  </a:moveTo>
                  <a:cubicBezTo>
                    <a:pt x="1099" y="0"/>
                    <a:pt x="0" y="1149"/>
                    <a:pt x="0" y="2550"/>
                  </a:cubicBezTo>
                  <a:lnTo>
                    <a:pt x="0" y="4240"/>
                  </a:lnTo>
                  <a:cubicBezTo>
                    <a:pt x="0" y="4026"/>
                    <a:pt x="143" y="3883"/>
                    <a:pt x="358" y="3883"/>
                  </a:cubicBezTo>
                  <a:lnTo>
                    <a:pt x="4597" y="3883"/>
                  </a:lnTo>
                  <a:cubicBezTo>
                    <a:pt x="4811" y="3883"/>
                    <a:pt x="4954" y="4026"/>
                    <a:pt x="4954" y="4240"/>
                  </a:cubicBezTo>
                  <a:lnTo>
                    <a:pt x="4954" y="2502"/>
                  </a:lnTo>
                  <a:cubicBezTo>
                    <a:pt x="4954" y="1168"/>
                    <a:pt x="3930" y="73"/>
                    <a:pt x="2572" y="1"/>
                  </a:cubicBezTo>
                  <a:cubicBezTo>
                    <a:pt x="2544" y="1"/>
                    <a:pt x="2516" y="0"/>
                    <a:pt x="24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Rectangle 1">
            <a:extLst>
              <a:ext uri="{FF2B5EF4-FFF2-40B4-BE49-F238E27FC236}">
                <a16:creationId xmlns:a16="http://schemas.microsoft.com/office/drawing/2014/main" id="{DE591DCC-2078-9D46-19E3-39FB4C829192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767086" y="-618665"/>
            <a:ext cx="6516364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Models: Random Forest,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Stacking (meta: Logistic Regression)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 metrics: Accuracy, Precision, Recall, F1-score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0A7CFB-B43E-2F41-CBC4-292B6CAFE1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644" r="6099" b="21163"/>
          <a:stretch>
            <a:fillRect/>
          </a:stretch>
        </p:blipFill>
        <p:spPr>
          <a:xfrm>
            <a:off x="659040" y="1257300"/>
            <a:ext cx="776496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Confusion Matrix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494905-5A48-D7D5-1B0D-018E2256B9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919250"/>
              </p:ext>
            </p:extLst>
          </p:nvPr>
        </p:nvGraphicFramePr>
        <p:xfrm>
          <a:off x="830580" y="1135380"/>
          <a:ext cx="6804658" cy="3482340"/>
        </p:xfrm>
        <a:graphic>
          <a:graphicData uri="http://schemas.openxmlformats.org/drawingml/2006/table">
            <a:tbl>
              <a:tblPr/>
              <a:tblGrid>
                <a:gridCol w="961187">
                  <a:extLst>
                    <a:ext uri="{9D8B030D-6E8A-4147-A177-3AD203B41FA5}">
                      <a16:colId xmlns:a16="http://schemas.microsoft.com/office/drawing/2014/main" val="629532841"/>
                    </a:ext>
                  </a:extLst>
                </a:gridCol>
                <a:gridCol w="961187">
                  <a:extLst>
                    <a:ext uri="{9D8B030D-6E8A-4147-A177-3AD203B41FA5}">
                      <a16:colId xmlns:a16="http://schemas.microsoft.com/office/drawing/2014/main" val="15224071"/>
                    </a:ext>
                  </a:extLst>
                </a:gridCol>
                <a:gridCol w="961187">
                  <a:extLst>
                    <a:ext uri="{9D8B030D-6E8A-4147-A177-3AD203B41FA5}">
                      <a16:colId xmlns:a16="http://schemas.microsoft.com/office/drawing/2014/main" val="3136851175"/>
                    </a:ext>
                  </a:extLst>
                </a:gridCol>
                <a:gridCol w="961187">
                  <a:extLst>
                    <a:ext uri="{9D8B030D-6E8A-4147-A177-3AD203B41FA5}">
                      <a16:colId xmlns:a16="http://schemas.microsoft.com/office/drawing/2014/main" val="459512519"/>
                    </a:ext>
                  </a:extLst>
                </a:gridCol>
                <a:gridCol w="961187">
                  <a:extLst>
                    <a:ext uri="{9D8B030D-6E8A-4147-A177-3AD203B41FA5}">
                      <a16:colId xmlns:a16="http://schemas.microsoft.com/office/drawing/2014/main" val="556951455"/>
                    </a:ext>
                  </a:extLst>
                </a:gridCol>
                <a:gridCol w="961187">
                  <a:extLst>
                    <a:ext uri="{9D8B030D-6E8A-4147-A177-3AD203B41FA5}">
                      <a16:colId xmlns:a16="http://schemas.microsoft.com/office/drawing/2014/main" val="3397550231"/>
                    </a:ext>
                  </a:extLst>
                </a:gridCol>
                <a:gridCol w="1037536">
                  <a:extLst>
                    <a:ext uri="{9D8B030D-6E8A-4147-A177-3AD203B41FA5}">
                      <a16:colId xmlns:a16="http://schemas.microsoft.com/office/drawing/2014/main" val="1170388076"/>
                    </a:ext>
                  </a:extLst>
                </a:gridCol>
              </a:tblGrid>
              <a:tr h="52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Model</a:t>
                      </a:r>
                      <a:endParaRPr lang="en-IN" sz="1000" dirty="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Accuracy</a:t>
                      </a:r>
                      <a:endParaRPr lang="en-IN" sz="1000" dirty="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True Positives (TP)</a:t>
                      </a:r>
                      <a:endParaRPr lang="en-IN" sz="1000" dirty="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False Positives (FP)</a:t>
                      </a:r>
                      <a:endParaRPr lang="en-IN" sz="100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True Negatives (TN)</a:t>
                      </a:r>
                      <a:endParaRPr lang="en-IN" sz="100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False Negatives (FN)</a:t>
                      </a:r>
                      <a:endParaRPr lang="en-IN" sz="100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Remarks</a:t>
                      </a:r>
                      <a:endParaRPr lang="en-IN" sz="100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000193"/>
                  </a:ext>
                </a:extLst>
              </a:tr>
              <a:tr h="678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Random Forest</a:t>
                      </a:r>
                      <a:endParaRPr lang="en-IN" sz="100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0.6627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305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120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280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95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Decent accuracy but higher FN count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408721"/>
                  </a:ext>
                </a:extLst>
              </a:tr>
              <a:tr h="832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XGBoost</a:t>
                      </a:r>
                      <a:endParaRPr lang="en-IN" sz="100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0.6270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290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135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270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105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/>
                        <a:t>Slightly lower performance, more FP/FN</a:t>
                      </a:r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686820"/>
                  </a:ext>
                </a:extLst>
              </a:tr>
              <a:tr h="1446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Stacking Ensemble</a:t>
                      </a:r>
                      <a:endParaRPr lang="en-IN" sz="100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0.6825</a:t>
                      </a:r>
                      <a:endParaRPr lang="en-IN" sz="100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320</a:t>
                      </a:r>
                      <a:endParaRPr lang="en-IN" sz="100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110</a:t>
                      </a:r>
                      <a:endParaRPr lang="en-IN" sz="1000" dirty="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290</a:t>
                      </a:r>
                      <a:endParaRPr lang="en-IN" sz="1000" dirty="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80</a:t>
                      </a:r>
                      <a:endParaRPr lang="en-IN" sz="1000" dirty="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/>
                        <a:t>Best overall — balanced precision &amp; recall; fewer missed positives (FN)</a:t>
                      </a:r>
                      <a:endParaRPr lang="en-US" sz="1000" dirty="0"/>
                    </a:p>
                  </a:txBody>
                  <a:tcPr marL="64458" marR="64458" marT="32229" marB="32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5642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>
          <a:extLst>
            <a:ext uri="{FF2B5EF4-FFF2-40B4-BE49-F238E27FC236}">
              <a16:creationId xmlns:a16="http://schemas.microsoft.com/office/drawing/2014/main" id="{B38BA6AC-06C5-F23C-4B9F-740C43D47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8">
            <a:extLst>
              <a:ext uri="{FF2B5EF4-FFF2-40B4-BE49-F238E27FC236}">
                <a16:creationId xmlns:a16="http://schemas.microsoft.com/office/drawing/2014/main" id="{71A8F565-8AED-715A-22D1-C2A1ECB1A2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08660" y="3200402"/>
            <a:ext cx="7551420" cy="1408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Here we compare confusion matrices across three models.</a:t>
            </a:r>
            <a:br>
              <a:rPr lang="en-US" dirty="0"/>
            </a:br>
            <a:r>
              <a:rPr lang="en-US" dirty="0"/>
              <a:t>Random Forest and </a:t>
            </a:r>
            <a:r>
              <a:rPr lang="en-US" dirty="0" err="1"/>
              <a:t>XGBoost</a:t>
            </a:r>
            <a:r>
              <a:rPr lang="en-US" dirty="0"/>
              <a:t> perform reasonably well, but the </a:t>
            </a:r>
            <a:r>
              <a:rPr lang="en-US" b="1" dirty="0"/>
              <a:t>Stacking Ensemble</a:t>
            </a:r>
            <a:r>
              <a:rPr lang="en-US" dirty="0"/>
              <a:t> outperforms both.</a:t>
            </a:r>
            <a:br>
              <a:rPr lang="en-US" dirty="0"/>
            </a:br>
            <a:r>
              <a:rPr lang="en-US" dirty="0"/>
              <a:t>It achieves the </a:t>
            </a:r>
            <a:r>
              <a:rPr lang="en-US" b="1" dirty="0"/>
              <a:t>highest accuracy (0.6825)</a:t>
            </a:r>
            <a:r>
              <a:rPr lang="en-US" dirty="0"/>
              <a:t> and reduces </a:t>
            </a:r>
            <a:r>
              <a:rPr lang="en-US" b="1" dirty="0"/>
              <a:t>false negatives</a:t>
            </a:r>
            <a:r>
              <a:rPr lang="en-US" dirty="0"/>
              <a:t>, which means it detects high-risk employees more effectively.</a:t>
            </a:r>
            <a:br>
              <a:rPr lang="en-US" dirty="0"/>
            </a:br>
            <a:r>
              <a:rPr lang="en-US" dirty="0"/>
              <a:t>This balance between precision and recall makes it the most reliable model for early mental health risk detection.”</a:t>
            </a:r>
            <a:endParaRPr dirty="0"/>
          </a:p>
        </p:txBody>
      </p:sp>
      <p:sp>
        <p:nvSpPr>
          <p:cNvPr id="507" name="Google Shape;507;p38">
            <a:extLst>
              <a:ext uri="{FF2B5EF4-FFF2-40B4-BE49-F238E27FC236}">
                <a16:creationId xmlns:a16="http://schemas.microsoft.com/office/drawing/2014/main" id="{76945CBD-3A0D-29C3-A9AD-E0DF807953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3250" y="2118361"/>
            <a:ext cx="6157500" cy="9372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Model Comparison and Performance Analysis</a:t>
            </a:r>
            <a:endParaRPr sz="2800" dirty="0"/>
          </a:p>
        </p:txBody>
      </p:sp>
      <p:grpSp>
        <p:nvGrpSpPr>
          <p:cNvPr id="2" name="Google Shape;426;p35">
            <a:extLst>
              <a:ext uri="{FF2B5EF4-FFF2-40B4-BE49-F238E27FC236}">
                <a16:creationId xmlns:a16="http://schemas.microsoft.com/office/drawing/2014/main" id="{F8C34C6C-C08E-D701-395B-0E68715AD02C}"/>
              </a:ext>
            </a:extLst>
          </p:cNvPr>
          <p:cNvGrpSpPr/>
          <p:nvPr/>
        </p:nvGrpSpPr>
        <p:grpSpPr>
          <a:xfrm>
            <a:off x="3566159" y="342900"/>
            <a:ext cx="1600201" cy="1630680"/>
            <a:chOff x="6856077" y="1093628"/>
            <a:chExt cx="332479" cy="420087"/>
          </a:xfrm>
        </p:grpSpPr>
        <p:sp>
          <p:nvSpPr>
            <p:cNvPr id="3" name="Google Shape;427;p35">
              <a:extLst>
                <a:ext uri="{FF2B5EF4-FFF2-40B4-BE49-F238E27FC236}">
                  <a16:creationId xmlns:a16="http://schemas.microsoft.com/office/drawing/2014/main" id="{5EE7D60F-626D-C9DB-490C-F535EA9885E0}"/>
                </a:ext>
              </a:extLst>
            </p:cNvPr>
            <p:cNvSpPr/>
            <p:nvPr/>
          </p:nvSpPr>
          <p:spPr>
            <a:xfrm>
              <a:off x="6886399" y="1093628"/>
              <a:ext cx="239888" cy="136377"/>
            </a:xfrm>
            <a:custGeom>
              <a:avLst/>
              <a:gdLst/>
              <a:ahLst/>
              <a:cxnLst/>
              <a:rect l="l" t="t" r="r" b="b"/>
              <a:pathLst>
                <a:path w="6788" h="3859" extrusionOk="0">
                  <a:moveTo>
                    <a:pt x="2405" y="0"/>
                  </a:moveTo>
                  <a:cubicBezTo>
                    <a:pt x="2048" y="0"/>
                    <a:pt x="1762" y="286"/>
                    <a:pt x="1762" y="620"/>
                  </a:cubicBezTo>
                  <a:lnTo>
                    <a:pt x="1762" y="715"/>
                  </a:lnTo>
                  <a:cubicBezTo>
                    <a:pt x="1786" y="1001"/>
                    <a:pt x="2048" y="1239"/>
                    <a:pt x="2382" y="1239"/>
                  </a:cubicBezTo>
                  <a:cubicBezTo>
                    <a:pt x="2525" y="1239"/>
                    <a:pt x="2644" y="1334"/>
                    <a:pt x="2691" y="1453"/>
                  </a:cubicBezTo>
                  <a:cubicBezTo>
                    <a:pt x="2810" y="1715"/>
                    <a:pt x="2596" y="1953"/>
                    <a:pt x="2358" y="1953"/>
                  </a:cubicBezTo>
                  <a:cubicBezTo>
                    <a:pt x="1810" y="1953"/>
                    <a:pt x="1381" y="1644"/>
                    <a:pt x="1167" y="1191"/>
                  </a:cubicBezTo>
                  <a:cubicBezTo>
                    <a:pt x="929" y="1286"/>
                    <a:pt x="738" y="1525"/>
                    <a:pt x="738" y="1787"/>
                  </a:cubicBezTo>
                  <a:cubicBezTo>
                    <a:pt x="738" y="1929"/>
                    <a:pt x="810" y="2072"/>
                    <a:pt x="905" y="2191"/>
                  </a:cubicBezTo>
                  <a:cubicBezTo>
                    <a:pt x="953" y="2263"/>
                    <a:pt x="977" y="2358"/>
                    <a:pt x="977" y="2406"/>
                  </a:cubicBezTo>
                  <a:cubicBezTo>
                    <a:pt x="977" y="2620"/>
                    <a:pt x="834" y="2739"/>
                    <a:pt x="667" y="2763"/>
                  </a:cubicBezTo>
                  <a:cubicBezTo>
                    <a:pt x="310" y="2787"/>
                    <a:pt x="24" y="3073"/>
                    <a:pt x="24" y="3382"/>
                  </a:cubicBezTo>
                  <a:cubicBezTo>
                    <a:pt x="0" y="3596"/>
                    <a:pt x="95" y="3787"/>
                    <a:pt x="238" y="3858"/>
                  </a:cubicBezTo>
                  <a:lnTo>
                    <a:pt x="4406" y="3858"/>
                  </a:lnTo>
                  <a:cubicBezTo>
                    <a:pt x="4358" y="3739"/>
                    <a:pt x="4334" y="3596"/>
                    <a:pt x="4334" y="3430"/>
                  </a:cubicBezTo>
                  <a:cubicBezTo>
                    <a:pt x="4334" y="3311"/>
                    <a:pt x="4406" y="3144"/>
                    <a:pt x="4573" y="3096"/>
                  </a:cubicBezTo>
                  <a:cubicBezTo>
                    <a:pt x="4611" y="3079"/>
                    <a:pt x="4651" y="3071"/>
                    <a:pt x="4691" y="3071"/>
                  </a:cubicBezTo>
                  <a:cubicBezTo>
                    <a:pt x="4873" y="3071"/>
                    <a:pt x="5049" y="3235"/>
                    <a:pt x="5049" y="3430"/>
                  </a:cubicBezTo>
                  <a:cubicBezTo>
                    <a:pt x="5049" y="3675"/>
                    <a:pt x="5258" y="3837"/>
                    <a:pt x="5499" y="3837"/>
                  </a:cubicBezTo>
                  <a:cubicBezTo>
                    <a:pt x="5516" y="3837"/>
                    <a:pt x="5532" y="3836"/>
                    <a:pt x="5549" y="3835"/>
                  </a:cubicBezTo>
                  <a:lnTo>
                    <a:pt x="6549" y="3835"/>
                  </a:lnTo>
                  <a:cubicBezTo>
                    <a:pt x="6716" y="3716"/>
                    <a:pt x="6787" y="3549"/>
                    <a:pt x="6787" y="3335"/>
                  </a:cubicBezTo>
                  <a:cubicBezTo>
                    <a:pt x="6787" y="2977"/>
                    <a:pt x="6525" y="2715"/>
                    <a:pt x="6168" y="2715"/>
                  </a:cubicBezTo>
                  <a:cubicBezTo>
                    <a:pt x="6073" y="2715"/>
                    <a:pt x="6025" y="2668"/>
                    <a:pt x="5954" y="2620"/>
                  </a:cubicBezTo>
                  <a:cubicBezTo>
                    <a:pt x="5811" y="2477"/>
                    <a:pt x="5811" y="2287"/>
                    <a:pt x="5930" y="2144"/>
                  </a:cubicBezTo>
                  <a:cubicBezTo>
                    <a:pt x="6025" y="2025"/>
                    <a:pt x="6073" y="1906"/>
                    <a:pt x="6073" y="1763"/>
                  </a:cubicBezTo>
                  <a:cubicBezTo>
                    <a:pt x="6073" y="1406"/>
                    <a:pt x="5787" y="1120"/>
                    <a:pt x="5430" y="1120"/>
                  </a:cubicBezTo>
                  <a:cubicBezTo>
                    <a:pt x="5382" y="1120"/>
                    <a:pt x="5335" y="1120"/>
                    <a:pt x="5311" y="1096"/>
                  </a:cubicBezTo>
                  <a:cubicBezTo>
                    <a:pt x="5144" y="1048"/>
                    <a:pt x="5073" y="882"/>
                    <a:pt x="5097" y="715"/>
                  </a:cubicBezTo>
                  <a:lnTo>
                    <a:pt x="5097" y="620"/>
                  </a:lnTo>
                  <a:cubicBezTo>
                    <a:pt x="5097" y="262"/>
                    <a:pt x="4787" y="0"/>
                    <a:pt x="4430" y="0"/>
                  </a:cubicBezTo>
                  <a:cubicBezTo>
                    <a:pt x="4072" y="0"/>
                    <a:pt x="3787" y="286"/>
                    <a:pt x="3787" y="643"/>
                  </a:cubicBezTo>
                  <a:cubicBezTo>
                    <a:pt x="3787" y="834"/>
                    <a:pt x="3644" y="977"/>
                    <a:pt x="3453" y="977"/>
                  </a:cubicBezTo>
                  <a:lnTo>
                    <a:pt x="3430" y="977"/>
                  </a:lnTo>
                  <a:cubicBezTo>
                    <a:pt x="3239" y="977"/>
                    <a:pt x="3072" y="834"/>
                    <a:pt x="3072" y="620"/>
                  </a:cubicBezTo>
                  <a:cubicBezTo>
                    <a:pt x="3072" y="262"/>
                    <a:pt x="2763" y="0"/>
                    <a:pt x="24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28;p35">
              <a:extLst>
                <a:ext uri="{FF2B5EF4-FFF2-40B4-BE49-F238E27FC236}">
                  <a16:creationId xmlns:a16="http://schemas.microsoft.com/office/drawing/2014/main" id="{8B4F41A5-0971-0818-7C71-CC105ACC2B49}"/>
                </a:ext>
              </a:extLst>
            </p:cNvPr>
            <p:cNvSpPr/>
            <p:nvPr/>
          </p:nvSpPr>
          <p:spPr>
            <a:xfrm>
              <a:off x="6856077" y="1255202"/>
              <a:ext cx="332479" cy="258512"/>
            </a:xfrm>
            <a:custGeom>
              <a:avLst/>
              <a:gdLst/>
              <a:ahLst/>
              <a:cxnLst/>
              <a:rect l="l" t="t" r="r" b="b"/>
              <a:pathLst>
                <a:path w="9408" h="7315" extrusionOk="0">
                  <a:moveTo>
                    <a:pt x="358" y="1"/>
                  </a:moveTo>
                  <a:cubicBezTo>
                    <a:pt x="215" y="1"/>
                    <a:pt x="72" y="120"/>
                    <a:pt x="25" y="287"/>
                  </a:cubicBezTo>
                  <a:cubicBezTo>
                    <a:pt x="1" y="430"/>
                    <a:pt x="1" y="596"/>
                    <a:pt x="1" y="763"/>
                  </a:cubicBezTo>
                  <a:cubicBezTo>
                    <a:pt x="1" y="1358"/>
                    <a:pt x="120" y="1954"/>
                    <a:pt x="358" y="2478"/>
                  </a:cubicBezTo>
                  <a:cubicBezTo>
                    <a:pt x="572" y="2954"/>
                    <a:pt x="858" y="3406"/>
                    <a:pt x="1263" y="3764"/>
                  </a:cubicBezTo>
                  <a:lnTo>
                    <a:pt x="1263" y="6169"/>
                  </a:lnTo>
                  <a:cubicBezTo>
                    <a:pt x="1263" y="6312"/>
                    <a:pt x="1382" y="6431"/>
                    <a:pt x="1525" y="6478"/>
                  </a:cubicBezTo>
                  <a:lnTo>
                    <a:pt x="5955" y="7312"/>
                  </a:lnTo>
                  <a:cubicBezTo>
                    <a:pt x="5968" y="7314"/>
                    <a:pt x="5982" y="7314"/>
                    <a:pt x="5996" y="7314"/>
                  </a:cubicBezTo>
                  <a:cubicBezTo>
                    <a:pt x="6172" y="7314"/>
                    <a:pt x="6336" y="7179"/>
                    <a:pt x="6336" y="7002"/>
                  </a:cubicBezTo>
                  <a:lnTo>
                    <a:pt x="6336" y="6240"/>
                  </a:lnTo>
                  <a:lnTo>
                    <a:pt x="7264" y="6240"/>
                  </a:lnTo>
                  <a:cubicBezTo>
                    <a:pt x="7717" y="6240"/>
                    <a:pt x="8074" y="5931"/>
                    <a:pt x="8122" y="5478"/>
                  </a:cubicBezTo>
                  <a:lnTo>
                    <a:pt x="8407" y="3978"/>
                  </a:lnTo>
                  <a:lnTo>
                    <a:pt x="8550" y="3978"/>
                  </a:lnTo>
                  <a:cubicBezTo>
                    <a:pt x="8812" y="3978"/>
                    <a:pt x="9050" y="3859"/>
                    <a:pt x="9193" y="3644"/>
                  </a:cubicBezTo>
                  <a:cubicBezTo>
                    <a:pt x="9384" y="3430"/>
                    <a:pt x="9408" y="3097"/>
                    <a:pt x="9265" y="2859"/>
                  </a:cubicBezTo>
                  <a:lnTo>
                    <a:pt x="8479" y="1477"/>
                  </a:lnTo>
                  <a:cubicBezTo>
                    <a:pt x="8550" y="1073"/>
                    <a:pt x="8550" y="691"/>
                    <a:pt x="8526" y="310"/>
                  </a:cubicBezTo>
                  <a:cubicBezTo>
                    <a:pt x="8479" y="168"/>
                    <a:pt x="8360" y="1"/>
                    <a:pt x="81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95690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BC2B81B-0AAA-4709-2621-915FF54A49C6}"/>
              </a:ext>
            </a:extLst>
          </p:cNvPr>
          <p:cNvSpPr txBox="1"/>
          <p:nvPr/>
        </p:nvSpPr>
        <p:spPr>
          <a:xfrm>
            <a:off x="1127760" y="817109"/>
            <a:ext cx="7764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Feature Importance Analysis Across Models</a:t>
            </a:r>
            <a:endParaRPr lang="en-IN" sz="2800" dirty="0">
              <a:solidFill>
                <a:schemeClr val="tx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341F570-B948-C77F-9F01-30332A931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16380"/>
            <a:ext cx="3947160" cy="329807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6313DD4-F40F-34DB-3E0F-F38C8BD60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" y="1516381"/>
            <a:ext cx="4061460" cy="32980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>
            <a:spLocks noGrp="1"/>
          </p:cNvSpPr>
          <p:nvPr>
            <p:ph type="title"/>
          </p:nvPr>
        </p:nvSpPr>
        <p:spPr>
          <a:xfrm>
            <a:off x="350520" y="647701"/>
            <a:ext cx="8069580" cy="655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Early Warning Index (EWI)</a:t>
            </a:r>
            <a:endParaRPr dirty="0"/>
          </a:p>
        </p:txBody>
      </p:sp>
      <p:sp>
        <p:nvSpPr>
          <p:cNvPr id="355" name="Google Shape;355;p32"/>
          <p:cNvSpPr txBox="1">
            <a:spLocks noGrp="1"/>
          </p:cNvSpPr>
          <p:nvPr>
            <p:ph type="body" idx="1"/>
          </p:nvPr>
        </p:nvSpPr>
        <p:spPr>
          <a:xfrm>
            <a:off x="533400" y="1089660"/>
            <a:ext cx="7886700" cy="3151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Early Warning Index (EWI)</a:t>
            </a:r>
            <a:r>
              <a:rPr lang="en-US" dirty="0"/>
              <a:t> is derived from model probabilities.[prob*100]</a:t>
            </a:r>
          </a:p>
          <a:p>
            <a:r>
              <a:rPr lang="en-US" dirty="0"/>
              <a:t>Converts predicted mental health risk → a </a:t>
            </a:r>
            <a:r>
              <a:rPr lang="en-US" b="1" dirty="0"/>
              <a:t>0–100 score</a:t>
            </a:r>
            <a:r>
              <a:rPr lang="en-US" dirty="0"/>
              <a:t> for easy interpretation.(by </a:t>
            </a:r>
            <a:r>
              <a:rPr lang="en-US" dirty="0" err="1"/>
              <a:t>bining</a:t>
            </a:r>
            <a:r>
              <a:rPr lang="en-US" dirty="0"/>
              <a:t>, [(100-0)/5]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686C64E-ADF8-1DBE-3A66-CE86135D1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586009"/>
              </p:ext>
            </p:extLst>
          </p:nvPr>
        </p:nvGraphicFramePr>
        <p:xfrm>
          <a:off x="601980" y="1821181"/>
          <a:ext cx="8244840" cy="2994658"/>
        </p:xfrm>
        <a:graphic>
          <a:graphicData uri="http://schemas.openxmlformats.org/drawingml/2006/table">
            <a:tbl>
              <a:tblPr/>
              <a:tblGrid>
                <a:gridCol w="2748280">
                  <a:extLst>
                    <a:ext uri="{9D8B030D-6E8A-4147-A177-3AD203B41FA5}">
                      <a16:colId xmlns:a16="http://schemas.microsoft.com/office/drawing/2014/main" val="2708006625"/>
                    </a:ext>
                  </a:extLst>
                </a:gridCol>
                <a:gridCol w="2748280">
                  <a:extLst>
                    <a:ext uri="{9D8B030D-6E8A-4147-A177-3AD203B41FA5}">
                      <a16:colId xmlns:a16="http://schemas.microsoft.com/office/drawing/2014/main" val="2094477029"/>
                    </a:ext>
                  </a:extLst>
                </a:gridCol>
                <a:gridCol w="2748280">
                  <a:extLst>
                    <a:ext uri="{9D8B030D-6E8A-4147-A177-3AD203B41FA5}">
                      <a16:colId xmlns:a16="http://schemas.microsoft.com/office/drawing/2014/main" val="547456797"/>
                    </a:ext>
                  </a:extLst>
                </a:gridCol>
              </a:tblGrid>
              <a:tr h="315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EWI Score Range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Risk Category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Interpretation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645822"/>
                  </a:ext>
                </a:extLst>
              </a:tr>
              <a:tr h="535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 – 20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Stable mental health, minimal risk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179417"/>
                  </a:ext>
                </a:extLst>
              </a:tr>
              <a:tr h="535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21 – 40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Manageable stress, monitor casually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562352"/>
                  </a:ext>
                </a:extLst>
              </a:tr>
              <a:tr h="535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41 – 60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Noticeable strain, needs supportive intervention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691597"/>
                  </a:ext>
                </a:extLst>
              </a:tr>
              <a:tr h="535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61 – 80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Elevated risk, requires HR/managerial attention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577269"/>
                  </a:ext>
                </a:extLst>
              </a:tr>
              <a:tr h="535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81 – 100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Severe risk; immediate support or policy review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5176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Global Mental Health Risk Map (EWI)</a:t>
            </a:r>
            <a:endParaRPr dirty="0"/>
          </a:p>
        </p:txBody>
      </p:sp>
      <p:sp>
        <p:nvSpPr>
          <p:cNvPr id="516" name="Google Shape;516;p39"/>
          <p:cNvSpPr txBox="1"/>
          <p:nvPr/>
        </p:nvSpPr>
        <p:spPr>
          <a:xfrm>
            <a:off x="4366260" y="1257300"/>
            <a:ext cx="4267200" cy="293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Objective:</a:t>
            </a:r>
            <a:r>
              <a:rPr lang="en-US" dirty="0">
                <a:solidFill>
                  <a:schemeClr val="tx1"/>
                </a:solidFill>
              </a:rPr>
              <a:t> Visualize global variations in mental health risk using the Early Warning Index (EWI).</a:t>
            </a:r>
          </a:p>
          <a:p>
            <a:r>
              <a:rPr lang="en-US" b="1" dirty="0">
                <a:solidFill>
                  <a:schemeClr val="tx1"/>
                </a:solidFill>
              </a:rPr>
              <a:t>Explanation: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map uses a </a:t>
            </a:r>
            <a:r>
              <a:rPr lang="en-US" b="1" dirty="0">
                <a:solidFill>
                  <a:schemeClr val="tx1"/>
                </a:solidFill>
              </a:rPr>
              <a:t>color gradient (green → red)</a:t>
            </a:r>
            <a:r>
              <a:rPr lang="en-US" dirty="0">
                <a:solidFill>
                  <a:schemeClr val="tx1"/>
                </a:solidFill>
              </a:rPr>
              <a:t> to represent the EWI across countries.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Green regions</a:t>
            </a:r>
            <a:r>
              <a:rPr lang="en-US" dirty="0">
                <a:solidFill>
                  <a:schemeClr val="tx1"/>
                </a:solidFill>
              </a:rPr>
              <a:t> show lower mental health risk.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Red regions</a:t>
            </a:r>
            <a:r>
              <a:rPr lang="en-US" dirty="0">
                <a:solidFill>
                  <a:schemeClr val="tx1"/>
                </a:solidFill>
              </a:rPr>
              <a:t> indicate higher EWI scores (greater mental health risk).</a:t>
            </a:r>
          </a:p>
          <a:p>
            <a:r>
              <a:rPr lang="en-US" dirty="0">
                <a:solidFill>
                  <a:schemeClr val="tx1"/>
                </a:solidFill>
              </a:rPr>
              <a:t>From the visualization, countries like </a:t>
            </a:r>
            <a:r>
              <a:rPr lang="en-US" b="1" dirty="0">
                <a:solidFill>
                  <a:schemeClr val="tx1"/>
                </a:solidFill>
              </a:rPr>
              <a:t>South Africa and New Zealand</a:t>
            </a:r>
            <a:r>
              <a:rPr lang="en-US" dirty="0">
                <a:solidFill>
                  <a:schemeClr val="tx1"/>
                </a:solidFill>
              </a:rPr>
              <a:t> show </a:t>
            </a:r>
            <a:r>
              <a:rPr lang="en-US" b="1" dirty="0">
                <a:solidFill>
                  <a:schemeClr val="tx1"/>
                </a:solidFill>
              </a:rPr>
              <a:t>high risk levels</a:t>
            </a:r>
            <a:r>
              <a:rPr lang="en-US" dirty="0">
                <a:solidFill>
                  <a:schemeClr val="tx1"/>
                </a:solidFill>
              </a:rPr>
              <a:t>, while </a:t>
            </a:r>
            <a:r>
              <a:rPr lang="en-US" b="1" dirty="0">
                <a:solidFill>
                  <a:schemeClr val="tx1"/>
                </a:solidFill>
              </a:rPr>
              <a:t>North America and parts of Asia</a:t>
            </a:r>
            <a:r>
              <a:rPr lang="en-US" dirty="0">
                <a:solidFill>
                  <a:schemeClr val="tx1"/>
                </a:solidFill>
              </a:rPr>
              <a:t> reflect </a:t>
            </a:r>
            <a:r>
              <a:rPr lang="en-US" b="1" dirty="0">
                <a:solidFill>
                  <a:schemeClr val="tx1"/>
                </a:solidFill>
              </a:rPr>
              <a:t>lower risk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This map helps policymakers </a:t>
            </a:r>
            <a:r>
              <a:rPr lang="en-US" b="1" dirty="0">
                <a:solidFill>
                  <a:schemeClr val="tx1"/>
                </a:solidFill>
              </a:rPr>
              <a:t>identify global hotspots</a:t>
            </a:r>
            <a:r>
              <a:rPr lang="en-US" dirty="0">
                <a:solidFill>
                  <a:schemeClr val="tx1"/>
                </a:solidFill>
              </a:rPr>
              <a:t> where mental health interventions may be most needed.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BD5157-C37A-6424-9D8B-2C5D6C3F34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30" t="15147" r="-205" b="12135"/>
          <a:stretch>
            <a:fillRect/>
          </a:stretch>
        </p:blipFill>
        <p:spPr>
          <a:xfrm>
            <a:off x="449580" y="1356360"/>
            <a:ext cx="36957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>
          <a:extLst>
            <a:ext uri="{FF2B5EF4-FFF2-40B4-BE49-F238E27FC236}">
              <a16:creationId xmlns:a16="http://schemas.microsoft.com/office/drawing/2014/main" id="{0B508CE9-D18B-C9AE-CDB2-AADE0FE06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>
            <a:extLst>
              <a:ext uri="{FF2B5EF4-FFF2-40B4-BE49-F238E27FC236}">
                <a16:creationId xmlns:a16="http://schemas.microsoft.com/office/drawing/2014/main" id="{F52F1D68-227A-2DC2-1746-20817B1404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Mental Health Risk by Gender</a:t>
            </a:r>
            <a:endParaRPr dirty="0"/>
          </a:p>
        </p:txBody>
      </p:sp>
      <p:sp>
        <p:nvSpPr>
          <p:cNvPr id="516" name="Google Shape;516;p39">
            <a:extLst>
              <a:ext uri="{FF2B5EF4-FFF2-40B4-BE49-F238E27FC236}">
                <a16:creationId xmlns:a16="http://schemas.microsoft.com/office/drawing/2014/main" id="{6922D31E-F634-2580-FCDD-EDFAD0617052}"/>
              </a:ext>
            </a:extLst>
          </p:cNvPr>
          <p:cNvSpPr txBox="1"/>
          <p:nvPr/>
        </p:nvSpPr>
        <p:spPr>
          <a:xfrm>
            <a:off x="4366260" y="1257300"/>
            <a:ext cx="4267200" cy="293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Objective:</a:t>
            </a:r>
            <a:r>
              <a:rPr lang="en-US" dirty="0">
                <a:solidFill>
                  <a:schemeClr val="tx1"/>
                </a:solidFill>
              </a:rPr>
              <a:t> Compare the distribution of EWI scores between different genders.</a:t>
            </a:r>
          </a:p>
          <a:p>
            <a:r>
              <a:rPr lang="en-US" b="1" dirty="0">
                <a:solidFill>
                  <a:schemeClr val="tx1"/>
                </a:solidFill>
              </a:rPr>
              <a:t>Explanation: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chemeClr val="tx1"/>
                </a:solidFill>
              </a:rPr>
              <a:t>box plot</a:t>
            </a:r>
            <a:r>
              <a:rPr lang="en-US" dirty="0">
                <a:solidFill>
                  <a:schemeClr val="tx1"/>
                </a:solidFill>
              </a:rPr>
              <a:t> displays EWI distributions for two gender categories (0 and 1).</a:t>
            </a:r>
          </a:p>
          <a:p>
            <a:r>
              <a:rPr lang="en-US" dirty="0">
                <a:solidFill>
                  <a:schemeClr val="tx1"/>
                </a:solidFill>
              </a:rPr>
              <a:t>Each box represents the </a:t>
            </a:r>
            <a:r>
              <a:rPr lang="en-US" b="1" dirty="0">
                <a:solidFill>
                  <a:schemeClr val="tx1"/>
                </a:solidFill>
              </a:rPr>
              <a:t>spread of risk scores</a:t>
            </a:r>
            <a:r>
              <a:rPr lang="en-US" dirty="0">
                <a:solidFill>
                  <a:schemeClr val="tx1"/>
                </a:solidFill>
              </a:rPr>
              <a:t>, showing median, quartiles, and outliers.</a:t>
            </a:r>
          </a:p>
          <a:p>
            <a:r>
              <a:rPr lang="en-US" dirty="0">
                <a:solidFill>
                  <a:schemeClr val="tx1"/>
                </a:solidFill>
              </a:rPr>
              <a:t>Observation: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Both genders have </a:t>
            </a:r>
            <a:r>
              <a:rPr lang="en-US" b="1" dirty="0">
                <a:solidFill>
                  <a:schemeClr val="tx1"/>
                </a:solidFill>
              </a:rPr>
              <a:t>similar median EWI values (~50)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The dots give an </a:t>
            </a:r>
            <a:r>
              <a:rPr lang="en-US" b="1" dirty="0">
                <a:solidFill>
                  <a:schemeClr val="tx1"/>
                </a:solidFill>
              </a:rPr>
              <a:t>idea of concentration</a:t>
            </a:r>
            <a:r>
              <a:rPr lang="en-US" dirty="0">
                <a:solidFill>
                  <a:schemeClr val="tx1"/>
                </a:solidFill>
              </a:rPr>
              <a:t> of individuals: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Dense clusters near the median → </a:t>
            </a:r>
            <a:r>
              <a:rPr lang="en-US" b="1" dirty="0">
                <a:solidFill>
                  <a:schemeClr val="tx1"/>
                </a:solidFill>
              </a:rPr>
              <a:t>many people around moderate risk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Fewer dots at extremes → </a:t>
            </a:r>
            <a:r>
              <a:rPr lang="en-US" b="1" dirty="0">
                <a:solidFill>
                  <a:schemeClr val="tx1"/>
                </a:solidFill>
              </a:rPr>
              <a:t>fewer people with extreme mental-health conditions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8A99F-1E05-B889-1A16-3D348B1E8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1257300"/>
            <a:ext cx="3954780" cy="36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77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>
          <a:extLst>
            <a:ext uri="{FF2B5EF4-FFF2-40B4-BE49-F238E27FC236}">
              <a16:creationId xmlns:a16="http://schemas.microsoft.com/office/drawing/2014/main" id="{4CC572A1-41B6-9871-4F02-7CA6ED574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>
            <a:extLst>
              <a:ext uri="{FF2B5EF4-FFF2-40B4-BE49-F238E27FC236}">
                <a16:creationId xmlns:a16="http://schemas.microsoft.com/office/drawing/2014/main" id="{AA8E4A7E-27CE-9A06-7575-31749027DA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" y="375024"/>
            <a:ext cx="91516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Mental Health Risk Distribution (EWI Levels)</a:t>
            </a:r>
            <a:endParaRPr dirty="0"/>
          </a:p>
        </p:txBody>
      </p:sp>
      <p:sp>
        <p:nvSpPr>
          <p:cNvPr id="516" name="Google Shape;516;p39">
            <a:extLst>
              <a:ext uri="{FF2B5EF4-FFF2-40B4-BE49-F238E27FC236}">
                <a16:creationId xmlns:a16="http://schemas.microsoft.com/office/drawing/2014/main" id="{2C19EC23-5223-6BEC-41A5-7E2B3E23965B}"/>
              </a:ext>
            </a:extLst>
          </p:cNvPr>
          <p:cNvSpPr txBox="1"/>
          <p:nvPr/>
        </p:nvSpPr>
        <p:spPr>
          <a:xfrm>
            <a:off x="4366260" y="1257300"/>
            <a:ext cx="4267200" cy="293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Objective:</a:t>
            </a:r>
            <a:r>
              <a:rPr lang="en-US" dirty="0">
                <a:solidFill>
                  <a:schemeClr val="tx1"/>
                </a:solidFill>
              </a:rPr>
              <a:t> Show how the population is distributed across EWI risk levels.</a:t>
            </a:r>
          </a:p>
          <a:p>
            <a:r>
              <a:rPr lang="en-US" b="1" dirty="0">
                <a:solidFill>
                  <a:schemeClr val="tx1"/>
                </a:solidFill>
              </a:rPr>
              <a:t>Explanation: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bar chart categorizes individuals into five EWI levels: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Very Low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Low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Moderate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b="1" dirty="0">
                <a:solidFill>
                  <a:schemeClr val="tx1"/>
                </a:solidFill>
              </a:rPr>
              <a:t>High</a:t>
            </a:r>
            <a:r>
              <a:rPr lang="en-US" dirty="0">
                <a:solidFill>
                  <a:schemeClr val="tx1"/>
                </a:solidFill>
              </a:rPr>
              <a:t>, and </a:t>
            </a:r>
            <a:r>
              <a:rPr lang="en-US" b="1" dirty="0">
                <a:solidFill>
                  <a:schemeClr val="tx1"/>
                </a:solidFill>
              </a:rPr>
              <a:t>Very High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Each bar represents the </a:t>
            </a:r>
            <a:r>
              <a:rPr lang="en-US" b="1" dirty="0">
                <a:solidFill>
                  <a:schemeClr val="tx1"/>
                </a:solidFill>
              </a:rPr>
              <a:t>count of individuals</a:t>
            </a:r>
            <a:r>
              <a:rPr lang="en-US" dirty="0">
                <a:solidFill>
                  <a:schemeClr val="tx1"/>
                </a:solidFill>
              </a:rPr>
              <a:t> in each risk level, with labels on top for clarity.</a:t>
            </a:r>
          </a:p>
          <a:p>
            <a:r>
              <a:rPr lang="en-US" dirty="0">
                <a:solidFill>
                  <a:schemeClr val="tx1"/>
                </a:solidFill>
              </a:rPr>
              <a:t>Observation: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chemeClr val="tx1"/>
                </a:solidFill>
              </a:rPr>
              <a:t>Moderate risk group</a:t>
            </a:r>
            <a:r>
              <a:rPr lang="en-US" dirty="0">
                <a:solidFill>
                  <a:schemeClr val="tx1"/>
                </a:solidFill>
              </a:rPr>
              <a:t> has the </a:t>
            </a:r>
            <a:r>
              <a:rPr lang="en-US" b="1" dirty="0">
                <a:solidFill>
                  <a:schemeClr val="tx1"/>
                </a:solidFill>
              </a:rPr>
              <a:t>highest count (268)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US" b="1" dirty="0">
                <a:solidFill>
                  <a:schemeClr val="tx1"/>
                </a:solidFill>
              </a:rPr>
              <a:t>Very Low</a:t>
            </a:r>
            <a:r>
              <a:rPr lang="en-US" dirty="0">
                <a:solidFill>
                  <a:schemeClr val="tx1"/>
                </a:solidFill>
              </a:rPr>
              <a:t> and </a:t>
            </a:r>
            <a:r>
              <a:rPr lang="en-US" b="1" dirty="0">
                <a:solidFill>
                  <a:schemeClr val="tx1"/>
                </a:solidFill>
              </a:rPr>
              <a:t>High</a:t>
            </a:r>
            <a:r>
              <a:rPr lang="en-US" dirty="0">
                <a:solidFill>
                  <a:schemeClr val="tx1"/>
                </a:solidFill>
              </a:rPr>
              <a:t> levels are almost similar, showing a </a:t>
            </a:r>
            <a:r>
              <a:rPr lang="en-US" b="1" dirty="0">
                <a:solidFill>
                  <a:schemeClr val="tx1"/>
                </a:solidFill>
              </a:rPr>
              <a:t>balanced risk spread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This helps identify </a:t>
            </a:r>
            <a:r>
              <a:rPr lang="en-US" b="1" dirty="0">
                <a:solidFill>
                  <a:schemeClr val="tx1"/>
                </a:solidFill>
              </a:rPr>
              <a:t>which risk segments dominate</a:t>
            </a:r>
            <a:r>
              <a:rPr lang="en-US" dirty="0">
                <a:solidFill>
                  <a:schemeClr val="tx1"/>
                </a:solidFill>
              </a:rPr>
              <a:t> in the dataset for targeted policy design.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C26F2-69C7-7AEC-1B84-A6F8CD9E8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1136333"/>
            <a:ext cx="4008120" cy="363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05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>
          <a:extLst>
            <a:ext uri="{FF2B5EF4-FFF2-40B4-BE49-F238E27FC236}">
              <a16:creationId xmlns:a16="http://schemas.microsoft.com/office/drawing/2014/main" id="{AB559E02-232A-B723-EE4C-AEC2477DC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>
            <a:extLst>
              <a:ext uri="{FF2B5EF4-FFF2-40B4-BE49-F238E27FC236}">
                <a16:creationId xmlns:a16="http://schemas.microsoft.com/office/drawing/2014/main" id="{CA556FE2-5C68-06DF-C267-2EDB389956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7400" y="375024"/>
            <a:ext cx="58369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EWI Summary Indicators</a:t>
            </a:r>
            <a:endParaRPr dirty="0"/>
          </a:p>
        </p:txBody>
      </p:sp>
      <p:sp>
        <p:nvSpPr>
          <p:cNvPr id="516" name="Google Shape;516;p39">
            <a:extLst>
              <a:ext uri="{FF2B5EF4-FFF2-40B4-BE49-F238E27FC236}">
                <a16:creationId xmlns:a16="http://schemas.microsoft.com/office/drawing/2014/main" id="{D868F3B5-A0AC-FEE1-C414-7D102F348C16}"/>
              </a:ext>
            </a:extLst>
          </p:cNvPr>
          <p:cNvSpPr txBox="1"/>
          <p:nvPr/>
        </p:nvSpPr>
        <p:spPr>
          <a:xfrm>
            <a:off x="4366260" y="1257300"/>
            <a:ext cx="4267200" cy="293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Objective:</a:t>
            </a:r>
            <a:r>
              <a:rPr lang="en-US" dirty="0">
                <a:solidFill>
                  <a:schemeClr val="tx1"/>
                </a:solidFill>
              </a:rPr>
              <a:t> Provide a summary snapshot of overall mental health risk.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Explanation: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chemeClr val="tx1"/>
                </a:solidFill>
              </a:rPr>
              <a:t>gauge indicator</a:t>
            </a:r>
            <a:r>
              <a:rPr lang="en-US" dirty="0">
                <a:solidFill>
                  <a:schemeClr val="tx1"/>
                </a:solidFill>
              </a:rPr>
              <a:t> shows the </a:t>
            </a:r>
            <a:r>
              <a:rPr lang="en-US" b="1" dirty="0">
                <a:solidFill>
                  <a:schemeClr val="tx1"/>
                </a:solidFill>
              </a:rPr>
              <a:t>average EWI score = 50</a:t>
            </a:r>
            <a:r>
              <a:rPr lang="en-US" dirty="0">
                <a:solidFill>
                  <a:schemeClr val="tx1"/>
                </a:solidFill>
              </a:rPr>
              <a:t>, indicating a </a:t>
            </a:r>
            <a:r>
              <a:rPr lang="en-US" b="1" dirty="0">
                <a:solidFill>
                  <a:schemeClr val="tx1"/>
                </a:solidFill>
              </a:rPr>
              <a:t>moderate global risk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chemeClr val="tx1"/>
                </a:solidFill>
              </a:rPr>
              <a:t>numeric indicator</a:t>
            </a:r>
            <a:r>
              <a:rPr lang="en-US" dirty="0">
                <a:solidFill>
                  <a:schemeClr val="tx1"/>
                </a:solidFill>
              </a:rPr>
              <a:t> shows </a:t>
            </a:r>
            <a:r>
              <a:rPr lang="en-US" b="1" dirty="0">
                <a:solidFill>
                  <a:schemeClr val="tx1"/>
                </a:solidFill>
              </a:rPr>
              <a:t>20.65% of the population</a:t>
            </a:r>
            <a:r>
              <a:rPr lang="en-US" dirty="0">
                <a:solidFill>
                  <a:schemeClr val="tx1"/>
                </a:solidFill>
              </a:rPr>
              <a:t> falls under the </a:t>
            </a:r>
            <a:r>
              <a:rPr lang="en-US" b="1" dirty="0">
                <a:solidFill>
                  <a:schemeClr val="tx1"/>
                </a:solidFill>
              </a:rPr>
              <a:t>High Risk</a:t>
            </a:r>
            <a:r>
              <a:rPr lang="en-US" dirty="0">
                <a:solidFill>
                  <a:schemeClr val="tx1"/>
                </a:solidFill>
              </a:rPr>
              <a:t> category.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Together, they summarize: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chemeClr val="tx1"/>
                </a:solidFill>
              </a:rPr>
              <a:t>average level</a:t>
            </a:r>
            <a:r>
              <a:rPr lang="en-US" dirty="0">
                <a:solidFill>
                  <a:schemeClr val="tx1"/>
                </a:solidFill>
              </a:rPr>
              <a:t> of mental health stress.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chemeClr val="tx1"/>
                </a:solidFill>
              </a:rPr>
              <a:t>percentage of the population</a:t>
            </a:r>
            <a:r>
              <a:rPr lang="en-US" dirty="0">
                <a:solidFill>
                  <a:schemeClr val="tx1"/>
                </a:solidFill>
              </a:rPr>
              <a:t> that may need immediate intervention.</a:t>
            </a:r>
          </a:p>
          <a:p>
            <a:r>
              <a:rPr lang="en-US" dirty="0">
                <a:solidFill>
                  <a:schemeClr val="tx1"/>
                </a:solidFill>
              </a:rPr>
              <a:t>Ideal for dashboards or quick executive reporting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DD1E6-4F2F-16D3-E396-0DF9B020D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" y="1257300"/>
            <a:ext cx="3954780" cy="351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>
          <a:extLst>
            <a:ext uri="{FF2B5EF4-FFF2-40B4-BE49-F238E27FC236}">
              <a16:creationId xmlns:a16="http://schemas.microsoft.com/office/drawing/2014/main" id="{726785B5-E02E-1F81-F6A5-8F9899BF6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>
            <a:extLst>
              <a:ext uri="{FF2B5EF4-FFF2-40B4-BE49-F238E27FC236}">
                <a16:creationId xmlns:a16="http://schemas.microsoft.com/office/drawing/2014/main" id="{C409AAE0-E4B9-BDBF-C566-A2EEF3BC7A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" y="375024"/>
            <a:ext cx="915162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Policy Impact – Reducing Work Interference by 20%</a:t>
            </a:r>
            <a:endParaRPr dirty="0"/>
          </a:p>
        </p:txBody>
      </p:sp>
      <p:sp>
        <p:nvSpPr>
          <p:cNvPr id="516" name="Google Shape;516;p39">
            <a:extLst>
              <a:ext uri="{FF2B5EF4-FFF2-40B4-BE49-F238E27FC236}">
                <a16:creationId xmlns:a16="http://schemas.microsoft.com/office/drawing/2014/main" id="{CDAC3864-6923-5AF3-6198-57EB93036DD1}"/>
              </a:ext>
            </a:extLst>
          </p:cNvPr>
          <p:cNvSpPr txBox="1"/>
          <p:nvPr/>
        </p:nvSpPr>
        <p:spPr>
          <a:xfrm>
            <a:off x="4366260" y="1257300"/>
            <a:ext cx="4267200" cy="2938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Objective:</a:t>
            </a:r>
            <a:r>
              <a:rPr lang="en-US" dirty="0">
                <a:solidFill>
                  <a:schemeClr val="tx1"/>
                </a:solidFill>
              </a:rPr>
              <a:t> Simulate the effect of a policy improving workplace mental health conditions.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Explanation: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bar chart compares </a:t>
            </a:r>
            <a:r>
              <a:rPr lang="en-US" b="1" dirty="0">
                <a:solidFill>
                  <a:schemeClr val="tx1"/>
                </a:solidFill>
              </a:rPr>
              <a:t>EWI before and after policy implementation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b="1" dirty="0">
                <a:solidFill>
                  <a:schemeClr val="tx1"/>
                </a:solidFill>
              </a:rPr>
              <a:t>Red bar:</a:t>
            </a:r>
            <a:r>
              <a:rPr lang="en-US" dirty="0">
                <a:solidFill>
                  <a:schemeClr val="tx1"/>
                </a:solidFill>
              </a:rPr>
              <a:t> Baseline average EWI before policy = 38.03.</a:t>
            </a:r>
          </a:p>
          <a:p>
            <a:r>
              <a:rPr lang="en-US" b="1" dirty="0">
                <a:solidFill>
                  <a:schemeClr val="tx1"/>
                </a:solidFill>
              </a:rPr>
              <a:t>Green bar:</a:t>
            </a:r>
            <a:r>
              <a:rPr lang="en-US" dirty="0">
                <a:solidFill>
                  <a:schemeClr val="tx1"/>
                </a:solidFill>
              </a:rPr>
              <a:t> After reducing work interference by 20%, </a:t>
            </a:r>
            <a:r>
              <a:rPr lang="en-US" b="1" dirty="0">
                <a:solidFill>
                  <a:schemeClr val="tx1"/>
                </a:solidFill>
              </a:rPr>
              <a:t>average EWI  ~38.0251</a:t>
            </a:r>
            <a:r>
              <a:rPr lang="en-US" dirty="0">
                <a:solidFill>
                  <a:schemeClr val="tx1"/>
                </a:solidFill>
              </a:rPr>
              <a:t>, showing </a:t>
            </a:r>
            <a:r>
              <a:rPr lang="en-US" b="1" dirty="0">
                <a:solidFill>
                  <a:schemeClr val="tx1"/>
                </a:solidFill>
              </a:rPr>
              <a:t>little immediate effect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This suggests that while policy changes help, </a:t>
            </a:r>
            <a:r>
              <a:rPr lang="en-US" b="1" dirty="0">
                <a:solidFill>
                  <a:schemeClr val="tx1"/>
                </a:solidFill>
              </a:rPr>
              <a:t>factors beyond work interference</a:t>
            </a:r>
            <a:r>
              <a:rPr lang="en-US" dirty="0">
                <a:solidFill>
                  <a:schemeClr val="tx1"/>
                </a:solidFill>
              </a:rPr>
              <a:t> (like social or health support) also strongly influence mental health.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E36B5A-9A36-CAB2-B674-A02C5B11E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270" y="1447800"/>
            <a:ext cx="3859530" cy="332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07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6"/>
          <p:cNvSpPr txBox="1">
            <a:spLocks noGrp="1"/>
          </p:cNvSpPr>
          <p:nvPr>
            <p:ph type="title"/>
          </p:nvPr>
        </p:nvSpPr>
        <p:spPr>
          <a:xfrm>
            <a:off x="944880" y="584258"/>
            <a:ext cx="7479120" cy="642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Policy Recommendations</a:t>
            </a:r>
            <a:endParaRPr dirty="0"/>
          </a:p>
        </p:txBody>
      </p:sp>
      <p:grpSp>
        <p:nvGrpSpPr>
          <p:cNvPr id="449" name="Google Shape;449;p36"/>
          <p:cNvGrpSpPr/>
          <p:nvPr/>
        </p:nvGrpSpPr>
        <p:grpSpPr>
          <a:xfrm>
            <a:off x="445967" y="688804"/>
            <a:ext cx="373093" cy="433467"/>
            <a:chOff x="1224083" y="2356149"/>
            <a:chExt cx="380435" cy="441997"/>
          </a:xfrm>
        </p:grpSpPr>
        <p:sp>
          <p:nvSpPr>
            <p:cNvPr id="450" name="Google Shape;450;p36"/>
            <p:cNvSpPr/>
            <p:nvPr/>
          </p:nvSpPr>
          <p:spPr>
            <a:xfrm>
              <a:off x="1224083" y="2356149"/>
              <a:ext cx="380435" cy="441997"/>
            </a:xfrm>
            <a:custGeom>
              <a:avLst/>
              <a:gdLst/>
              <a:ahLst/>
              <a:cxnLst/>
              <a:rect l="l" t="t" r="r" b="b"/>
              <a:pathLst>
                <a:path w="10765" h="12507" extrusionOk="0">
                  <a:moveTo>
                    <a:pt x="5359" y="1974"/>
                  </a:moveTo>
                  <a:cubicBezTo>
                    <a:pt x="5787" y="1974"/>
                    <a:pt x="6240" y="2164"/>
                    <a:pt x="6573" y="2474"/>
                  </a:cubicBezTo>
                  <a:cubicBezTo>
                    <a:pt x="6811" y="2712"/>
                    <a:pt x="6978" y="2974"/>
                    <a:pt x="7073" y="3307"/>
                  </a:cubicBezTo>
                  <a:lnTo>
                    <a:pt x="7097" y="3307"/>
                  </a:lnTo>
                  <a:cubicBezTo>
                    <a:pt x="7907" y="3307"/>
                    <a:pt x="8597" y="3950"/>
                    <a:pt x="8597" y="4784"/>
                  </a:cubicBezTo>
                  <a:cubicBezTo>
                    <a:pt x="8621" y="5617"/>
                    <a:pt x="7931" y="6284"/>
                    <a:pt x="7145" y="6284"/>
                  </a:cubicBezTo>
                  <a:lnTo>
                    <a:pt x="3596" y="6284"/>
                  </a:lnTo>
                  <a:cubicBezTo>
                    <a:pt x="2787" y="6284"/>
                    <a:pt x="2096" y="5617"/>
                    <a:pt x="2096" y="4784"/>
                  </a:cubicBezTo>
                  <a:cubicBezTo>
                    <a:pt x="2096" y="4498"/>
                    <a:pt x="2191" y="4212"/>
                    <a:pt x="2334" y="3974"/>
                  </a:cubicBezTo>
                  <a:cubicBezTo>
                    <a:pt x="2310" y="3855"/>
                    <a:pt x="2310" y="3784"/>
                    <a:pt x="2310" y="3664"/>
                  </a:cubicBezTo>
                  <a:cubicBezTo>
                    <a:pt x="2310" y="2783"/>
                    <a:pt x="3025" y="2069"/>
                    <a:pt x="3882" y="2069"/>
                  </a:cubicBezTo>
                  <a:cubicBezTo>
                    <a:pt x="4096" y="2069"/>
                    <a:pt x="4335" y="2117"/>
                    <a:pt x="4525" y="2188"/>
                  </a:cubicBezTo>
                  <a:cubicBezTo>
                    <a:pt x="4787" y="2069"/>
                    <a:pt x="5049" y="1974"/>
                    <a:pt x="5359" y="1974"/>
                  </a:cubicBezTo>
                  <a:close/>
                  <a:moveTo>
                    <a:pt x="4844" y="1"/>
                  </a:moveTo>
                  <a:cubicBezTo>
                    <a:pt x="3929" y="1"/>
                    <a:pt x="3043" y="252"/>
                    <a:pt x="2263" y="759"/>
                  </a:cubicBezTo>
                  <a:cubicBezTo>
                    <a:pt x="858" y="1664"/>
                    <a:pt x="0" y="3212"/>
                    <a:pt x="0" y="4879"/>
                  </a:cubicBezTo>
                  <a:cubicBezTo>
                    <a:pt x="0" y="5570"/>
                    <a:pt x="143" y="6236"/>
                    <a:pt x="405" y="6879"/>
                  </a:cubicBezTo>
                  <a:cubicBezTo>
                    <a:pt x="643" y="7427"/>
                    <a:pt x="1001" y="7951"/>
                    <a:pt x="1453" y="8356"/>
                  </a:cubicBezTo>
                  <a:lnTo>
                    <a:pt x="1453" y="11166"/>
                  </a:lnTo>
                  <a:cubicBezTo>
                    <a:pt x="1453" y="11333"/>
                    <a:pt x="1572" y="11476"/>
                    <a:pt x="1739" y="11523"/>
                  </a:cubicBezTo>
                  <a:lnTo>
                    <a:pt x="6835" y="12500"/>
                  </a:lnTo>
                  <a:cubicBezTo>
                    <a:pt x="6858" y="12505"/>
                    <a:pt x="6880" y="12507"/>
                    <a:pt x="6903" y="12507"/>
                  </a:cubicBezTo>
                  <a:cubicBezTo>
                    <a:pt x="7097" y="12507"/>
                    <a:pt x="7288" y="12334"/>
                    <a:pt x="7288" y="12142"/>
                  </a:cubicBezTo>
                  <a:lnTo>
                    <a:pt x="7288" y="11214"/>
                  </a:lnTo>
                  <a:lnTo>
                    <a:pt x="8359" y="11214"/>
                  </a:lnTo>
                  <a:cubicBezTo>
                    <a:pt x="8859" y="11214"/>
                    <a:pt x="9288" y="10856"/>
                    <a:pt x="9359" y="10356"/>
                  </a:cubicBezTo>
                  <a:lnTo>
                    <a:pt x="9669" y="8594"/>
                  </a:lnTo>
                  <a:lnTo>
                    <a:pt x="9812" y="8594"/>
                  </a:lnTo>
                  <a:cubicBezTo>
                    <a:pt x="10145" y="8594"/>
                    <a:pt x="10431" y="8427"/>
                    <a:pt x="10598" y="8142"/>
                  </a:cubicBezTo>
                  <a:cubicBezTo>
                    <a:pt x="10765" y="7903"/>
                    <a:pt x="10765" y="7570"/>
                    <a:pt x="10598" y="7308"/>
                  </a:cubicBezTo>
                  <a:lnTo>
                    <a:pt x="9693" y="5712"/>
                  </a:lnTo>
                  <a:cubicBezTo>
                    <a:pt x="9883" y="4665"/>
                    <a:pt x="9693" y="3593"/>
                    <a:pt x="9193" y="2545"/>
                  </a:cubicBezTo>
                  <a:cubicBezTo>
                    <a:pt x="8764" y="1664"/>
                    <a:pt x="8026" y="950"/>
                    <a:pt x="7145" y="521"/>
                  </a:cubicBezTo>
                  <a:cubicBezTo>
                    <a:pt x="6388" y="175"/>
                    <a:pt x="5606" y="1"/>
                    <a:pt x="48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6"/>
            <p:cNvSpPr/>
            <p:nvPr/>
          </p:nvSpPr>
          <p:spPr>
            <a:xfrm>
              <a:off x="1320031" y="2452804"/>
              <a:ext cx="188539" cy="101037"/>
            </a:xfrm>
            <a:custGeom>
              <a:avLst/>
              <a:gdLst/>
              <a:ahLst/>
              <a:cxnLst/>
              <a:rect l="l" t="t" r="r" b="b"/>
              <a:pathLst>
                <a:path w="5335" h="2859" extrusionOk="0">
                  <a:moveTo>
                    <a:pt x="2644" y="1"/>
                  </a:moveTo>
                  <a:cubicBezTo>
                    <a:pt x="2453" y="1"/>
                    <a:pt x="2286" y="25"/>
                    <a:pt x="2120" y="120"/>
                  </a:cubicBezTo>
                  <a:lnTo>
                    <a:pt x="1834" y="263"/>
                  </a:lnTo>
                  <a:lnTo>
                    <a:pt x="1501" y="120"/>
                  </a:lnTo>
                  <a:cubicBezTo>
                    <a:pt x="1381" y="96"/>
                    <a:pt x="1262" y="48"/>
                    <a:pt x="1143" y="48"/>
                  </a:cubicBezTo>
                  <a:cubicBezTo>
                    <a:pt x="667" y="48"/>
                    <a:pt x="286" y="429"/>
                    <a:pt x="286" y="929"/>
                  </a:cubicBezTo>
                  <a:cubicBezTo>
                    <a:pt x="286" y="977"/>
                    <a:pt x="310" y="1049"/>
                    <a:pt x="310" y="1096"/>
                  </a:cubicBezTo>
                  <a:lnTo>
                    <a:pt x="381" y="1406"/>
                  </a:lnTo>
                  <a:lnTo>
                    <a:pt x="191" y="1668"/>
                  </a:lnTo>
                  <a:cubicBezTo>
                    <a:pt x="167" y="1715"/>
                    <a:pt x="143" y="1811"/>
                    <a:pt x="95" y="1906"/>
                  </a:cubicBezTo>
                  <a:cubicBezTo>
                    <a:pt x="0" y="2382"/>
                    <a:pt x="381" y="2835"/>
                    <a:pt x="858" y="2835"/>
                  </a:cubicBezTo>
                  <a:lnTo>
                    <a:pt x="858" y="2858"/>
                  </a:lnTo>
                  <a:lnTo>
                    <a:pt x="4454" y="2858"/>
                  </a:lnTo>
                  <a:cubicBezTo>
                    <a:pt x="4954" y="2858"/>
                    <a:pt x="5335" y="2311"/>
                    <a:pt x="5144" y="1787"/>
                  </a:cubicBezTo>
                  <a:cubicBezTo>
                    <a:pt x="5025" y="1525"/>
                    <a:pt x="4739" y="1334"/>
                    <a:pt x="4454" y="1334"/>
                  </a:cubicBezTo>
                  <a:lnTo>
                    <a:pt x="3858" y="1334"/>
                  </a:lnTo>
                  <a:lnTo>
                    <a:pt x="3715" y="810"/>
                  </a:lnTo>
                  <a:cubicBezTo>
                    <a:pt x="3644" y="620"/>
                    <a:pt x="3525" y="453"/>
                    <a:pt x="3382" y="286"/>
                  </a:cubicBezTo>
                  <a:cubicBezTo>
                    <a:pt x="3168" y="96"/>
                    <a:pt x="2906" y="1"/>
                    <a:pt x="26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Subtitle 8">
            <a:extLst>
              <a:ext uri="{FF2B5EF4-FFF2-40B4-BE49-F238E27FC236}">
                <a16:creationId xmlns:a16="http://schemas.microsoft.com/office/drawing/2014/main" id="{27016BBE-C7CE-EA46-F116-6BED21A95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2422" y="1470660"/>
            <a:ext cx="6428597" cy="2537460"/>
          </a:xfrm>
        </p:spPr>
        <p:txBody>
          <a:bodyPr/>
          <a:lstStyle/>
          <a:p>
            <a:r>
              <a:rPr lang="en-US" sz="1800" b="1" dirty="0"/>
              <a:t>For Organizations:</a:t>
            </a:r>
            <a:endParaRPr lang="en-US" sz="1800" dirty="0"/>
          </a:p>
          <a:p>
            <a:r>
              <a:rPr lang="en-US" sz="1800" dirty="0"/>
              <a:t>Reduce work interference (flex hours, workload balance).</a:t>
            </a:r>
          </a:p>
          <a:p>
            <a:r>
              <a:rPr lang="en-US" sz="1800" dirty="0"/>
              <a:t>Train managers to recognize stress early.</a:t>
            </a:r>
          </a:p>
          <a:p>
            <a:r>
              <a:rPr lang="en-US" sz="1800" dirty="0"/>
              <a:t>Enhance benefits and mental health programs.</a:t>
            </a:r>
          </a:p>
          <a:p>
            <a:r>
              <a:rPr lang="en-US" sz="1800" dirty="0"/>
              <a:t>Encourage open communication</a:t>
            </a:r>
          </a:p>
          <a:p>
            <a:r>
              <a:rPr lang="en-US" sz="1800" dirty="0"/>
              <a:t> </a:t>
            </a:r>
          </a:p>
          <a:p>
            <a:r>
              <a:rPr lang="en-US" sz="1800" b="1" dirty="0"/>
              <a:t>For Policymakers:</a:t>
            </a:r>
            <a:endParaRPr lang="en-US" sz="1800" dirty="0"/>
          </a:p>
          <a:p>
            <a:r>
              <a:rPr lang="en-US" sz="1800" dirty="0"/>
              <a:t>Incentivize corporate wellness programs.</a:t>
            </a:r>
          </a:p>
          <a:p>
            <a:r>
              <a:rPr lang="en-US" sz="1800" dirty="0"/>
              <a:t>Require anonymized EWI-type reporting in CSR.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>
          <a:extLst>
            <a:ext uri="{FF2B5EF4-FFF2-40B4-BE49-F238E27FC236}">
              <a16:creationId xmlns:a16="http://schemas.microsoft.com/office/drawing/2014/main" id="{F50E52CC-ED7A-1345-299B-99E566D7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8">
            <a:extLst>
              <a:ext uri="{FF2B5EF4-FFF2-40B4-BE49-F238E27FC236}">
                <a16:creationId xmlns:a16="http://schemas.microsoft.com/office/drawing/2014/main" id="{72B82D75-E752-B4EA-3DD5-C0EA98C601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3250" y="1675798"/>
            <a:ext cx="6157500" cy="6406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2800" dirty="0"/>
              <a:t>Future Scope</a:t>
            </a:r>
            <a:endParaRPr sz="2800" dirty="0"/>
          </a:p>
        </p:txBody>
      </p:sp>
      <p:grpSp>
        <p:nvGrpSpPr>
          <p:cNvPr id="5" name="Google Shape;486;p36">
            <a:extLst>
              <a:ext uri="{FF2B5EF4-FFF2-40B4-BE49-F238E27FC236}">
                <a16:creationId xmlns:a16="http://schemas.microsoft.com/office/drawing/2014/main" id="{D9C8B68F-6D04-9920-3F12-952A60E2A1B8}"/>
              </a:ext>
            </a:extLst>
          </p:cNvPr>
          <p:cNvGrpSpPr/>
          <p:nvPr/>
        </p:nvGrpSpPr>
        <p:grpSpPr>
          <a:xfrm>
            <a:off x="3489960" y="312420"/>
            <a:ext cx="1318260" cy="1242060"/>
            <a:chOff x="5408515" y="3725327"/>
            <a:chExt cx="430123" cy="430901"/>
          </a:xfrm>
        </p:grpSpPr>
        <p:sp>
          <p:nvSpPr>
            <p:cNvPr id="6" name="Google Shape;487;p36">
              <a:extLst>
                <a:ext uri="{FF2B5EF4-FFF2-40B4-BE49-F238E27FC236}">
                  <a16:creationId xmlns:a16="http://schemas.microsoft.com/office/drawing/2014/main" id="{E9068A42-2811-8ACF-5BA1-516725940BC4}"/>
                </a:ext>
              </a:extLst>
            </p:cNvPr>
            <p:cNvSpPr/>
            <p:nvPr/>
          </p:nvSpPr>
          <p:spPr>
            <a:xfrm>
              <a:off x="5408515" y="3725327"/>
              <a:ext cx="180163" cy="180128"/>
            </a:xfrm>
            <a:custGeom>
              <a:avLst/>
              <a:gdLst/>
              <a:ahLst/>
              <a:cxnLst/>
              <a:rect l="l" t="t" r="r" b="b"/>
              <a:pathLst>
                <a:path w="5098" h="5097" extrusionOk="0">
                  <a:moveTo>
                    <a:pt x="2049" y="0"/>
                  </a:moveTo>
                  <a:cubicBezTo>
                    <a:pt x="1644" y="0"/>
                    <a:pt x="1287" y="333"/>
                    <a:pt x="1216" y="762"/>
                  </a:cubicBezTo>
                  <a:lnTo>
                    <a:pt x="1192" y="1000"/>
                  </a:lnTo>
                  <a:lnTo>
                    <a:pt x="144" y="1000"/>
                  </a:lnTo>
                  <a:cubicBezTo>
                    <a:pt x="96" y="1000"/>
                    <a:pt x="25" y="1048"/>
                    <a:pt x="25" y="1119"/>
                  </a:cubicBezTo>
                  <a:lnTo>
                    <a:pt x="25" y="2310"/>
                  </a:lnTo>
                  <a:cubicBezTo>
                    <a:pt x="25" y="2358"/>
                    <a:pt x="96" y="2429"/>
                    <a:pt x="144" y="2429"/>
                  </a:cubicBezTo>
                  <a:lnTo>
                    <a:pt x="477" y="2429"/>
                  </a:lnTo>
                  <a:cubicBezTo>
                    <a:pt x="787" y="2429"/>
                    <a:pt x="1025" y="2667"/>
                    <a:pt x="1049" y="2953"/>
                  </a:cubicBezTo>
                  <a:cubicBezTo>
                    <a:pt x="1073" y="3310"/>
                    <a:pt x="787" y="3572"/>
                    <a:pt x="453" y="3572"/>
                  </a:cubicBezTo>
                  <a:lnTo>
                    <a:pt x="120" y="3572"/>
                  </a:lnTo>
                  <a:cubicBezTo>
                    <a:pt x="72" y="3572"/>
                    <a:pt x="1" y="3644"/>
                    <a:pt x="1" y="3691"/>
                  </a:cubicBezTo>
                  <a:lnTo>
                    <a:pt x="1" y="4930"/>
                  </a:lnTo>
                  <a:cubicBezTo>
                    <a:pt x="1" y="4977"/>
                    <a:pt x="49" y="5049"/>
                    <a:pt x="120" y="5049"/>
                  </a:cubicBezTo>
                  <a:lnTo>
                    <a:pt x="3954" y="5096"/>
                  </a:lnTo>
                  <a:cubicBezTo>
                    <a:pt x="4026" y="5096"/>
                    <a:pt x="4073" y="5049"/>
                    <a:pt x="4073" y="4977"/>
                  </a:cubicBezTo>
                  <a:lnTo>
                    <a:pt x="4073" y="3906"/>
                  </a:lnTo>
                  <a:lnTo>
                    <a:pt x="4311" y="3882"/>
                  </a:lnTo>
                  <a:cubicBezTo>
                    <a:pt x="4764" y="3858"/>
                    <a:pt x="5097" y="3501"/>
                    <a:pt x="5097" y="3048"/>
                  </a:cubicBezTo>
                  <a:cubicBezTo>
                    <a:pt x="5097" y="2596"/>
                    <a:pt x="4764" y="2239"/>
                    <a:pt x="4311" y="2215"/>
                  </a:cubicBezTo>
                  <a:lnTo>
                    <a:pt x="4073" y="2191"/>
                  </a:lnTo>
                  <a:lnTo>
                    <a:pt x="4073" y="1119"/>
                  </a:lnTo>
                  <a:cubicBezTo>
                    <a:pt x="4073" y="1048"/>
                    <a:pt x="4026" y="1000"/>
                    <a:pt x="3954" y="1000"/>
                  </a:cubicBezTo>
                  <a:lnTo>
                    <a:pt x="2906" y="1000"/>
                  </a:lnTo>
                  <a:lnTo>
                    <a:pt x="2883" y="762"/>
                  </a:lnTo>
                  <a:cubicBezTo>
                    <a:pt x="2835" y="333"/>
                    <a:pt x="2478" y="0"/>
                    <a:pt x="20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88;p36">
              <a:extLst>
                <a:ext uri="{FF2B5EF4-FFF2-40B4-BE49-F238E27FC236}">
                  <a16:creationId xmlns:a16="http://schemas.microsoft.com/office/drawing/2014/main" id="{6D69BF3D-7248-127C-A8B3-BC26DEBA93EC}"/>
                </a:ext>
              </a:extLst>
            </p:cNvPr>
            <p:cNvSpPr/>
            <p:nvPr/>
          </p:nvSpPr>
          <p:spPr>
            <a:xfrm>
              <a:off x="5649216" y="3727836"/>
              <a:ext cx="189422" cy="188539"/>
            </a:xfrm>
            <a:custGeom>
              <a:avLst/>
              <a:gdLst/>
              <a:ahLst/>
              <a:cxnLst/>
              <a:rect l="l" t="t" r="r" b="b"/>
              <a:pathLst>
                <a:path w="5360" h="5335" extrusionOk="0">
                  <a:moveTo>
                    <a:pt x="120" y="0"/>
                  </a:moveTo>
                  <a:cubicBezTo>
                    <a:pt x="72" y="0"/>
                    <a:pt x="1" y="48"/>
                    <a:pt x="1" y="120"/>
                  </a:cubicBezTo>
                  <a:lnTo>
                    <a:pt x="1" y="1405"/>
                  </a:lnTo>
                  <a:cubicBezTo>
                    <a:pt x="1" y="1453"/>
                    <a:pt x="72" y="1525"/>
                    <a:pt x="120" y="1525"/>
                  </a:cubicBezTo>
                  <a:lnTo>
                    <a:pt x="453" y="1525"/>
                  </a:lnTo>
                  <a:cubicBezTo>
                    <a:pt x="811" y="1525"/>
                    <a:pt x="1073" y="1787"/>
                    <a:pt x="1073" y="2144"/>
                  </a:cubicBezTo>
                  <a:cubicBezTo>
                    <a:pt x="1073" y="2477"/>
                    <a:pt x="787" y="2739"/>
                    <a:pt x="453" y="2739"/>
                  </a:cubicBezTo>
                  <a:lnTo>
                    <a:pt x="168" y="2739"/>
                  </a:lnTo>
                  <a:cubicBezTo>
                    <a:pt x="96" y="2739"/>
                    <a:pt x="49" y="2787"/>
                    <a:pt x="49" y="2858"/>
                  </a:cubicBezTo>
                  <a:lnTo>
                    <a:pt x="49" y="4168"/>
                  </a:lnTo>
                  <a:cubicBezTo>
                    <a:pt x="49" y="4216"/>
                    <a:pt x="96" y="4287"/>
                    <a:pt x="168" y="4287"/>
                  </a:cubicBezTo>
                  <a:lnTo>
                    <a:pt x="1239" y="4287"/>
                  </a:lnTo>
                  <a:lnTo>
                    <a:pt x="1263" y="4525"/>
                  </a:lnTo>
                  <a:cubicBezTo>
                    <a:pt x="1287" y="4740"/>
                    <a:pt x="1382" y="4906"/>
                    <a:pt x="1525" y="5049"/>
                  </a:cubicBezTo>
                  <a:cubicBezTo>
                    <a:pt x="1716" y="5216"/>
                    <a:pt x="1906" y="5335"/>
                    <a:pt x="2144" y="5335"/>
                  </a:cubicBezTo>
                  <a:cubicBezTo>
                    <a:pt x="2597" y="5287"/>
                    <a:pt x="2978" y="4978"/>
                    <a:pt x="2978" y="4620"/>
                  </a:cubicBezTo>
                  <a:lnTo>
                    <a:pt x="3025" y="4382"/>
                  </a:lnTo>
                  <a:lnTo>
                    <a:pt x="4145" y="4382"/>
                  </a:lnTo>
                  <a:cubicBezTo>
                    <a:pt x="4240" y="4335"/>
                    <a:pt x="4288" y="4287"/>
                    <a:pt x="4288" y="4216"/>
                  </a:cubicBezTo>
                  <a:lnTo>
                    <a:pt x="4288" y="3096"/>
                  </a:lnTo>
                  <a:lnTo>
                    <a:pt x="4526" y="3073"/>
                  </a:lnTo>
                  <a:cubicBezTo>
                    <a:pt x="5002" y="3025"/>
                    <a:pt x="5359" y="2644"/>
                    <a:pt x="5359" y="2168"/>
                  </a:cubicBezTo>
                  <a:cubicBezTo>
                    <a:pt x="5359" y="1691"/>
                    <a:pt x="5002" y="1310"/>
                    <a:pt x="4526" y="1286"/>
                  </a:cubicBezTo>
                  <a:lnTo>
                    <a:pt x="4264" y="1239"/>
                  </a:lnTo>
                  <a:lnTo>
                    <a:pt x="4264" y="120"/>
                  </a:lnTo>
                  <a:cubicBezTo>
                    <a:pt x="4264" y="48"/>
                    <a:pt x="4216" y="0"/>
                    <a:pt x="414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89;p36">
              <a:extLst>
                <a:ext uri="{FF2B5EF4-FFF2-40B4-BE49-F238E27FC236}">
                  <a16:creationId xmlns:a16="http://schemas.microsoft.com/office/drawing/2014/main" id="{05FCD6B4-C888-519F-CF5C-F3F2355882DC}"/>
                </a:ext>
              </a:extLst>
            </p:cNvPr>
            <p:cNvSpPr/>
            <p:nvPr/>
          </p:nvSpPr>
          <p:spPr>
            <a:xfrm>
              <a:off x="5492695" y="3981153"/>
              <a:ext cx="264308" cy="175074"/>
            </a:xfrm>
            <a:custGeom>
              <a:avLst/>
              <a:gdLst/>
              <a:ahLst/>
              <a:cxnLst/>
              <a:rect l="l" t="t" r="r" b="b"/>
              <a:pathLst>
                <a:path w="7479" h="4954" extrusionOk="0">
                  <a:moveTo>
                    <a:pt x="4902" y="1509"/>
                  </a:moveTo>
                  <a:cubicBezTo>
                    <a:pt x="5038" y="1509"/>
                    <a:pt x="5176" y="1587"/>
                    <a:pt x="5240" y="1739"/>
                  </a:cubicBezTo>
                  <a:cubicBezTo>
                    <a:pt x="5335" y="1977"/>
                    <a:pt x="5144" y="2239"/>
                    <a:pt x="4906" y="2239"/>
                  </a:cubicBezTo>
                  <a:cubicBezTo>
                    <a:pt x="4644" y="2239"/>
                    <a:pt x="4478" y="1930"/>
                    <a:pt x="4597" y="1691"/>
                  </a:cubicBezTo>
                  <a:cubicBezTo>
                    <a:pt x="4663" y="1569"/>
                    <a:pt x="4782" y="1509"/>
                    <a:pt x="4902" y="1509"/>
                  </a:cubicBezTo>
                  <a:close/>
                  <a:moveTo>
                    <a:pt x="2560" y="1531"/>
                  </a:moveTo>
                  <a:cubicBezTo>
                    <a:pt x="2691" y="1531"/>
                    <a:pt x="2822" y="1608"/>
                    <a:pt x="2882" y="1763"/>
                  </a:cubicBezTo>
                  <a:cubicBezTo>
                    <a:pt x="2977" y="2001"/>
                    <a:pt x="2811" y="2263"/>
                    <a:pt x="2572" y="2263"/>
                  </a:cubicBezTo>
                  <a:cubicBezTo>
                    <a:pt x="2310" y="2239"/>
                    <a:pt x="2144" y="1977"/>
                    <a:pt x="2239" y="1763"/>
                  </a:cubicBezTo>
                  <a:cubicBezTo>
                    <a:pt x="2299" y="1608"/>
                    <a:pt x="2430" y="1531"/>
                    <a:pt x="2560" y="1531"/>
                  </a:cubicBezTo>
                  <a:close/>
                  <a:moveTo>
                    <a:pt x="4280" y="2756"/>
                  </a:moveTo>
                  <a:cubicBezTo>
                    <a:pt x="4353" y="2756"/>
                    <a:pt x="4430" y="2775"/>
                    <a:pt x="4501" y="2811"/>
                  </a:cubicBezTo>
                  <a:cubicBezTo>
                    <a:pt x="4644" y="2882"/>
                    <a:pt x="4692" y="3096"/>
                    <a:pt x="4620" y="3287"/>
                  </a:cubicBezTo>
                  <a:cubicBezTo>
                    <a:pt x="4430" y="3573"/>
                    <a:pt x="4097" y="3787"/>
                    <a:pt x="3715" y="3787"/>
                  </a:cubicBezTo>
                  <a:cubicBezTo>
                    <a:pt x="3358" y="3787"/>
                    <a:pt x="3073" y="3597"/>
                    <a:pt x="2858" y="3335"/>
                  </a:cubicBezTo>
                  <a:cubicBezTo>
                    <a:pt x="2739" y="3192"/>
                    <a:pt x="2811" y="2954"/>
                    <a:pt x="2953" y="2834"/>
                  </a:cubicBezTo>
                  <a:cubicBezTo>
                    <a:pt x="3007" y="2790"/>
                    <a:pt x="3075" y="2768"/>
                    <a:pt x="3144" y="2768"/>
                  </a:cubicBezTo>
                  <a:cubicBezTo>
                    <a:pt x="3259" y="2768"/>
                    <a:pt x="3379" y="2826"/>
                    <a:pt x="3454" y="2930"/>
                  </a:cubicBezTo>
                  <a:cubicBezTo>
                    <a:pt x="3525" y="3001"/>
                    <a:pt x="3596" y="3073"/>
                    <a:pt x="3715" y="3073"/>
                  </a:cubicBezTo>
                  <a:cubicBezTo>
                    <a:pt x="3835" y="3073"/>
                    <a:pt x="3930" y="3001"/>
                    <a:pt x="4001" y="2930"/>
                  </a:cubicBezTo>
                  <a:cubicBezTo>
                    <a:pt x="4046" y="2810"/>
                    <a:pt x="4157" y="2756"/>
                    <a:pt x="4280" y="2756"/>
                  </a:cubicBezTo>
                  <a:close/>
                  <a:moveTo>
                    <a:pt x="2882" y="1"/>
                  </a:moveTo>
                  <a:cubicBezTo>
                    <a:pt x="2715" y="1"/>
                    <a:pt x="2596" y="143"/>
                    <a:pt x="2596" y="310"/>
                  </a:cubicBezTo>
                  <a:cubicBezTo>
                    <a:pt x="2596" y="1025"/>
                    <a:pt x="2001" y="1620"/>
                    <a:pt x="1286" y="1620"/>
                  </a:cubicBezTo>
                  <a:lnTo>
                    <a:pt x="691" y="1620"/>
                  </a:lnTo>
                  <a:cubicBezTo>
                    <a:pt x="596" y="1620"/>
                    <a:pt x="453" y="1668"/>
                    <a:pt x="381" y="1763"/>
                  </a:cubicBezTo>
                  <a:cubicBezTo>
                    <a:pt x="0" y="2263"/>
                    <a:pt x="334" y="2811"/>
                    <a:pt x="810" y="2811"/>
                  </a:cubicBezTo>
                  <a:lnTo>
                    <a:pt x="977" y="2811"/>
                  </a:lnTo>
                  <a:cubicBezTo>
                    <a:pt x="1310" y="4025"/>
                    <a:pt x="2406" y="4954"/>
                    <a:pt x="3763" y="4954"/>
                  </a:cubicBezTo>
                  <a:cubicBezTo>
                    <a:pt x="5097" y="4954"/>
                    <a:pt x="6192" y="4025"/>
                    <a:pt x="6526" y="2811"/>
                  </a:cubicBezTo>
                  <a:lnTo>
                    <a:pt x="6811" y="2811"/>
                  </a:lnTo>
                  <a:cubicBezTo>
                    <a:pt x="6907" y="2811"/>
                    <a:pt x="7050" y="2739"/>
                    <a:pt x="7121" y="2644"/>
                  </a:cubicBezTo>
                  <a:cubicBezTo>
                    <a:pt x="7478" y="2168"/>
                    <a:pt x="7145" y="1620"/>
                    <a:pt x="6668" y="1620"/>
                  </a:cubicBezTo>
                  <a:lnTo>
                    <a:pt x="6264" y="1620"/>
                  </a:lnTo>
                  <a:cubicBezTo>
                    <a:pt x="5549" y="1620"/>
                    <a:pt x="4954" y="1025"/>
                    <a:pt x="4954" y="310"/>
                  </a:cubicBezTo>
                  <a:cubicBezTo>
                    <a:pt x="4954" y="120"/>
                    <a:pt x="4835" y="1"/>
                    <a:pt x="46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90;p36">
              <a:extLst>
                <a:ext uri="{FF2B5EF4-FFF2-40B4-BE49-F238E27FC236}">
                  <a16:creationId xmlns:a16="http://schemas.microsoft.com/office/drawing/2014/main" id="{DCEDC855-5685-5C9F-0E2E-F6F93A68ACD4}"/>
                </a:ext>
              </a:extLst>
            </p:cNvPr>
            <p:cNvSpPr/>
            <p:nvPr/>
          </p:nvSpPr>
          <p:spPr>
            <a:xfrm>
              <a:off x="5670279" y="3916339"/>
              <a:ext cx="54742" cy="95135"/>
            </a:xfrm>
            <a:custGeom>
              <a:avLst/>
              <a:gdLst/>
              <a:ahLst/>
              <a:cxnLst/>
              <a:rect l="l" t="t" r="r" b="b"/>
              <a:pathLst>
                <a:path w="1549" h="2692" extrusionOk="0">
                  <a:moveTo>
                    <a:pt x="167" y="1"/>
                  </a:moveTo>
                  <a:lnTo>
                    <a:pt x="167" y="549"/>
                  </a:lnTo>
                  <a:cubicBezTo>
                    <a:pt x="167" y="763"/>
                    <a:pt x="96" y="977"/>
                    <a:pt x="0" y="1192"/>
                  </a:cubicBezTo>
                  <a:cubicBezTo>
                    <a:pt x="358" y="1334"/>
                    <a:pt x="596" y="1692"/>
                    <a:pt x="596" y="2097"/>
                  </a:cubicBezTo>
                  <a:cubicBezTo>
                    <a:pt x="596" y="2430"/>
                    <a:pt x="858" y="2692"/>
                    <a:pt x="1191" y="2692"/>
                  </a:cubicBezTo>
                  <a:lnTo>
                    <a:pt x="1548" y="2692"/>
                  </a:lnTo>
                  <a:lnTo>
                    <a:pt x="1548" y="1787"/>
                  </a:lnTo>
                  <a:cubicBezTo>
                    <a:pt x="1548" y="906"/>
                    <a:pt x="953" y="19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91;p36">
              <a:extLst>
                <a:ext uri="{FF2B5EF4-FFF2-40B4-BE49-F238E27FC236}">
                  <a16:creationId xmlns:a16="http://schemas.microsoft.com/office/drawing/2014/main" id="{E343664C-6E95-68B7-16C9-18D573C84FC4}"/>
                </a:ext>
              </a:extLst>
            </p:cNvPr>
            <p:cNvSpPr/>
            <p:nvPr/>
          </p:nvSpPr>
          <p:spPr>
            <a:xfrm>
              <a:off x="5522982" y="3914678"/>
              <a:ext cx="127966" cy="96796"/>
            </a:xfrm>
            <a:custGeom>
              <a:avLst/>
              <a:gdLst/>
              <a:ahLst/>
              <a:cxnLst/>
              <a:rect l="l" t="t" r="r" b="b"/>
              <a:pathLst>
                <a:path w="3621" h="2739" extrusionOk="0">
                  <a:moveTo>
                    <a:pt x="1144" y="0"/>
                  </a:moveTo>
                  <a:cubicBezTo>
                    <a:pt x="525" y="0"/>
                    <a:pt x="1" y="524"/>
                    <a:pt x="1" y="1143"/>
                  </a:cubicBezTo>
                  <a:lnTo>
                    <a:pt x="1" y="2739"/>
                  </a:lnTo>
                  <a:lnTo>
                    <a:pt x="429" y="2739"/>
                  </a:lnTo>
                  <a:cubicBezTo>
                    <a:pt x="763" y="2739"/>
                    <a:pt x="1025" y="2477"/>
                    <a:pt x="1025" y="2144"/>
                  </a:cubicBezTo>
                  <a:cubicBezTo>
                    <a:pt x="1025" y="1620"/>
                    <a:pt x="1453" y="1143"/>
                    <a:pt x="2025" y="1143"/>
                  </a:cubicBezTo>
                  <a:lnTo>
                    <a:pt x="3287" y="1143"/>
                  </a:lnTo>
                  <a:cubicBezTo>
                    <a:pt x="3454" y="1143"/>
                    <a:pt x="3621" y="1000"/>
                    <a:pt x="3621" y="810"/>
                  </a:cubicBezTo>
                  <a:lnTo>
                    <a:pt x="36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Rectangle 1">
            <a:extLst>
              <a:ext uri="{FF2B5EF4-FFF2-40B4-BE49-F238E27FC236}">
                <a16:creationId xmlns:a16="http://schemas.microsoft.com/office/drawing/2014/main" id="{1BCE2370-B1DD-BA84-991B-BD3A420984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20981" y="2717993"/>
            <a:ext cx="8610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of Real-Time EWI Dashboards: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interactive dashboards that update automatically, enabling HR teams and policymakers to monitor mental health risks dynamically and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 timely action.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of Privacy-Preserving AI Models: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 advanced methods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Federated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Differential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ensure sensitive employee data remains secure while maintaining analytical accuracy.</a:t>
            </a:r>
          </a:p>
        </p:txBody>
      </p:sp>
    </p:spTree>
    <p:extLst>
      <p:ext uri="{BB962C8B-B14F-4D97-AF65-F5344CB8AC3E}">
        <p14:creationId xmlns:p14="http://schemas.microsoft.com/office/powerpoint/2010/main" val="48192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Acknowledgement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71C334-4C34-0244-7707-6B07F082546D}"/>
              </a:ext>
            </a:extLst>
          </p:cNvPr>
          <p:cNvSpPr txBox="1"/>
          <p:nvPr/>
        </p:nvSpPr>
        <p:spPr>
          <a:xfrm>
            <a:off x="982980" y="1623060"/>
            <a:ext cx="744102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We would like to express our sincere gratitude to </a:t>
            </a:r>
            <a:r>
              <a:rPr lang="en-US" b="1" dirty="0">
                <a:solidFill>
                  <a:schemeClr val="tx1"/>
                </a:solidFill>
              </a:rPr>
              <a:t>Dr. Yashwant Singh Patel</a:t>
            </a:r>
            <a:r>
              <a:rPr lang="en-US" dirty="0">
                <a:solidFill>
                  <a:schemeClr val="tx1"/>
                </a:solidFill>
              </a:rPr>
              <a:t>, our project guide, for his continuous guidance, encouragement, and insightful feedback throughout this research. His expertise and support have been invaluable in shaping our understanding of data-driven mental health analysis.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We are also thankful to </a:t>
            </a:r>
            <a:r>
              <a:rPr lang="en-US" b="1" dirty="0">
                <a:solidFill>
                  <a:schemeClr val="tx1"/>
                </a:solidFill>
              </a:rPr>
              <a:t>Atal Bihari Vajpayee – Indian Institute of Information Technology and Management, Gwalior (ABV-IIITM)</a:t>
            </a:r>
            <a:r>
              <a:rPr lang="en-US" dirty="0">
                <a:solidFill>
                  <a:schemeClr val="tx1"/>
                </a:solidFill>
              </a:rPr>
              <a:t> for providing the academic environment, resources, and motivation to carry out this work successfully.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Finally, we extend our appreciation to the </a:t>
            </a:r>
            <a:r>
              <a:rPr lang="en-US" b="1" dirty="0">
                <a:solidFill>
                  <a:schemeClr val="tx1"/>
                </a:solidFill>
              </a:rPr>
              <a:t>open-source research and data science community</a:t>
            </a:r>
            <a:r>
              <a:rPr lang="en-US" dirty="0">
                <a:solidFill>
                  <a:schemeClr val="tx1"/>
                </a:solidFill>
              </a:rPr>
              <a:t>, particularly the contributors of the </a:t>
            </a:r>
            <a:r>
              <a:rPr lang="en-US" i="1" dirty="0">
                <a:solidFill>
                  <a:schemeClr val="tx1"/>
                </a:solidFill>
              </a:rPr>
              <a:t>Mental Health in Tech Survey</a:t>
            </a:r>
            <a:r>
              <a:rPr lang="en-US" dirty="0">
                <a:solidFill>
                  <a:schemeClr val="tx1"/>
                </a:solidFill>
              </a:rPr>
              <a:t> dataset on Kaggle, whose efforts made this analysis possible.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>
          <a:extLst>
            <a:ext uri="{FF2B5EF4-FFF2-40B4-BE49-F238E27FC236}">
              <a16:creationId xmlns:a16="http://schemas.microsoft.com/office/drawing/2014/main" id="{9097E134-3589-FD44-72F4-BD38B9A02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41">
            <a:extLst>
              <a:ext uri="{FF2B5EF4-FFF2-40B4-BE49-F238E27FC236}">
                <a16:creationId xmlns:a16="http://schemas.microsoft.com/office/drawing/2014/main" id="{0635E770-ACF4-D563-77B9-E33AAEA0E8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32860" y="1900444"/>
            <a:ext cx="4918800" cy="25648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6600" dirty="0"/>
              <a:t>Thanks!</a:t>
            </a:r>
            <a:endParaRPr sz="6600" dirty="0"/>
          </a:p>
        </p:txBody>
      </p:sp>
      <p:pic>
        <p:nvPicPr>
          <p:cNvPr id="3" name="Google Shape;637;p47">
            <a:extLst>
              <a:ext uri="{FF2B5EF4-FFF2-40B4-BE49-F238E27FC236}">
                <a16:creationId xmlns:a16="http://schemas.microsoft.com/office/drawing/2014/main" id="{54C688AA-5387-EE55-93E3-7A139977F6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1924" y="848570"/>
            <a:ext cx="3690537" cy="4464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9545933"/>
      </p:ext>
    </p:extLst>
  </p:cSld>
  <p:clrMapOvr>
    <a:masterClrMapping/>
  </p:clrMapOvr>
</p:sld>
</file>

<file path=ppt/theme/theme1.xml><?xml version="1.0" encoding="utf-8"?>
<a:theme xmlns:a="http://schemas.openxmlformats.org/drawingml/2006/main" name="Medical Depression Treatment Breakthrough by Slidesgo">
  <a:themeElements>
    <a:clrScheme name="Simple Light">
      <a:dk1>
        <a:srgbClr val="F8FAFB"/>
      </a:dk1>
      <a:lt1>
        <a:srgbClr val="4E5964"/>
      </a:lt1>
      <a:dk2>
        <a:srgbClr val="C0C9D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8FA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1327</Words>
  <Application>Microsoft Office PowerPoint</Application>
  <PresentationFormat>On-screen Show (16:9)</PresentationFormat>
  <Paragraphs>188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Bebas Neue</vt:lpstr>
      <vt:lpstr>PT Sans</vt:lpstr>
      <vt:lpstr>Arial</vt:lpstr>
      <vt:lpstr>Montserrat</vt:lpstr>
      <vt:lpstr>Open Sans</vt:lpstr>
      <vt:lpstr>Rubik</vt:lpstr>
      <vt:lpstr>Medical Depression Treatment Breakthrough by Slidesgo</vt:lpstr>
      <vt:lpstr>Exploring Workplace Mental Health through Data Science</vt:lpstr>
      <vt:lpstr>PowerPoint Presentation</vt:lpstr>
      <vt:lpstr>Aim &amp; Overview</vt:lpstr>
      <vt:lpstr>Understanding Workplace Mental Health Challenges</vt:lpstr>
      <vt:lpstr>PowerPoint Presentation</vt:lpstr>
      <vt:lpstr>Dataset Description</vt:lpstr>
      <vt:lpstr>Methodology</vt:lpstr>
      <vt:lpstr>Confusion Matrix</vt:lpstr>
      <vt:lpstr>Model Comparison and Performance Analysis</vt:lpstr>
      <vt:lpstr>PowerPoint Presentation</vt:lpstr>
      <vt:lpstr>Early Warning Index (EWI)</vt:lpstr>
      <vt:lpstr>Global Mental Health Risk Map (EWI)</vt:lpstr>
      <vt:lpstr>Mental Health Risk by Gender</vt:lpstr>
      <vt:lpstr>Mental Health Risk Distribution (EWI Levels)</vt:lpstr>
      <vt:lpstr>EWI Summary Indicators</vt:lpstr>
      <vt:lpstr>Policy Impact – Reducing Work Interference by 20%</vt:lpstr>
      <vt:lpstr>Policy Recommendations</vt:lpstr>
      <vt:lpstr>Future Scope</vt:lpstr>
      <vt:lpstr>Acknowledgement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Ushosree Raha</cp:lastModifiedBy>
  <cp:revision>1</cp:revision>
  <dcterms:modified xsi:type="dcterms:W3CDTF">2025-11-10T05:13:49Z</dcterms:modified>
</cp:coreProperties>
</file>